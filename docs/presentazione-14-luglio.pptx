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60" r:id="rId6"/>
    <p:sldId id="261" r:id="rId7"/>
    <p:sldId id="262" r:id="rId8"/>
    <p:sldId id="259" r:id="rId5"/>
    <p:sldId id="263" r:id="rId9"/>
    <p:sldId id="270" r:id="rId16"/>
    <p:sldId id="264" r:id="rId10"/>
    <p:sldId id="265" r:id="rId11"/>
    <p:sldId id="268" r:id="rId14"/>
    <p:sldId id="269" r:id="rId15"/>
    <p:sldId id="271" r:id="rId17"/>
    <p:sldId id="266" r:id="rId12"/>
    <p:sldId id="267" r:id="rId13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35"/>
    <p:restoredTop sz="94643"/>
  </p:normalViewPr>
  <p:slideViewPr>
    <p:cSldViewPr snapToGrid="0">
      <p:cViewPr varScale="1">
        <p:scale>
          <a:sx n="107" d="100"/>
          <a:sy n="107" d="100"/>
        </p:scale>
        <p:origin x="184" y="128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A43A3D-ADF5-9E4D-BCA5-CAC647D7E610}" type="datetimeFigureOut">
              <a:rPr lang="it-IT" smtClean="0"/>
              <a:t>14/07/26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F92185-F56D-5944-92C0-1B4DEDD0ACB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85379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F92185-F56D-5944-92C0-1B4DEDD0ACB2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65881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F92185-F56D-5944-92C0-1B4DEDD0ACB2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07386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F92185-F56D-5944-92C0-1B4DEDD0ACB2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14273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648" y="1325880"/>
            <a:ext cx="4114800" cy="11390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01752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0" dirty="0" err="1">
                <a:solidFill>
                  <a:srgbClr val="B3B3B3"/>
                </a:solidFill>
                <a:latin typeface="Arial"/>
              </a:rPr>
              <a:t>Aggregatore</a:t>
            </a:r>
            <a:r>
              <a:rPr sz="2000" b="0" i="0" dirty="0">
                <a:solidFill>
                  <a:srgbClr val="B3B3B3"/>
                </a:solidFill>
                <a:latin typeface="Arial"/>
              </a:rPr>
              <a:t> della </a:t>
            </a:r>
            <a:r>
              <a:rPr sz="2000" b="0" i="0" dirty="0" err="1">
                <a:solidFill>
                  <a:srgbClr val="B3B3B3"/>
                </a:solidFill>
                <a:latin typeface="Arial"/>
              </a:rPr>
              <a:t>programmazione</a:t>
            </a:r>
            <a:r>
              <a:rPr sz="20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B3B3B3"/>
                </a:solidFill>
                <a:latin typeface="Arial"/>
              </a:rPr>
              <a:t>dei</a:t>
            </a:r>
            <a:r>
              <a:rPr sz="2000" b="0" i="0" dirty="0">
                <a:solidFill>
                  <a:srgbClr val="B3B3B3"/>
                </a:solidFill>
                <a:latin typeface="Arial"/>
              </a:rPr>
              <a:t> cinema </a:t>
            </a:r>
            <a:r>
              <a:rPr sz="2000" b="0" i="0" dirty="0" err="1">
                <a:solidFill>
                  <a:srgbClr val="B3B3B3"/>
                </a:solidFill>
                <a:latin typeface="Arial"/>
              </a:rPr>
              <a:t>dell'Umbria</a:t>
            </a:r>
            <a:endParaRPr sz="2000" b="0" i="0" dirty="0">
              <a:solidFill>
                <a:srgbClr val="B3B3B3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184648" y="3840480"/>
            <a:ext cx="1828800" cy="27432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4069080"/>
            <a:ext cx="9418320" cy="97206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 dirty="0">
                <a:solidFill>
                  <a:srgbClr val="FFFFFF"/>
                </a:solidFill>
                <a:latin typeface="Arial"/>
              </a:rPr>
              <a:t>Team </a:t>
            </a:r>
            <a:r>
              <a:rPr sz="1600" b="1" i="0" dirty="0" err="1">
                <a:solidFill>
                  <a:srgbClr val="FFFFFF"/>
                </a:solidFill>
                <a:latin typeface="Arial"/>
              </a:rPr>
              <a:t>RepCode</a:t>
            </a:r>
            <a:endParaRPr sz="1600" b="1" i="0" dirty="0">
              <a:solidFill>
                <a:srgbClr val="FFFFFF"/>
              </a:solidFill>
              <a:latin typeface="Arial"/>
            </a:endParaRPr>
          </a:p>
          <a:p>
            <a:pPr algn="ctr">
              <a:spcAft>
                <a:spcPts val="1400"/>
              </a:spcAft>
            </a:pPr>
            <a:r>
              <a:rPr sz="1400" b="0" i="0" dirty="0">
                <a:solidFill>
                  <a:srgbClr val="B3B3B3"/>
                </a:solidFill>
                <a:latin typeface="Arial"/>
              </a:rPr>
              <a:t>Emanuele Ceccariglia · Elio Casciola · Andrea Cestelli · Yonas Burka</a:t>
            </a:r>
          </a:p>
          <a:p>
            <a:pPr algn="ctr">
              <a:spcAft>
                <a:spcPts val="300"/>
              </a:spcAft>
            </a:pPr>
            <a:r>
              <a:rPr sz="1300" b="0" i="0" dirty="0" err="1">
                <a:solidFill>
                  <a:srgbClr val="808080"/>
                </a:solidFill>
                <a:latin typeface="Arial"/>
              </a:rPr>
              <a:t>Ingegneria</a:t>
            </a:r>
            <a:r>
              <a:rPr sz="1300" b="0" i="0" dirty="0">
                <a:solidFill>
                  <a:srgbClr val="808080"/>
                </a:solidFill>
                <a:latin typeface="Arial"/>
              </a:rPr>
              <a:t> del Software ITS Umbria Academy 2025/202</a:t>
            </a:r>
            <a:r>
              <a:rPr lang="it-IT" sz="1300" b="0" i="0" dirty="0">
                <a:solidFill>
                  <a:srgbClr val="808080"/>
                </a:solidFill>
                <a:latin typeface="Arial"/>
              </a:rPr>
              <a:t>6</a:t>
            </a:r>
            <a:endParaRPr sz="1300" b="0" i="0" dirty="0">
              <a:solidFill>
                <a:srgbClr val="80808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PERCHÉ CINEPOSTO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Il problema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257800" cy="361188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 dirty="0">
                <a:solidFill>
                  <a:srgbClr val="808080"/>
                </a:solidFill>
                <a:latin typeface="Arial"/>
              </a:rPr>
              <a:t>Oggi</a:t>
            </a:r>
          </a:p>
          <a:p>
            <a:pPr algn="l">
              <a:spcAft>
                <a:spcPts val="1600"/>
              </a:spcAft>
            </a:pPr>
            <a:r>
              <a:rPr sz="1900" b="1" i="0" dirty="0">
                <a:solidFill>
                  <a:srgbClr val="FFFFFF"/>
                </a:solidFill>
                <a:latin typeface="Arial"/>
              </a:rPr>
              <a:t>Per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sapere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cosa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danno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stasera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a Perugia devi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aprire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tre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siti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diversi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ognuno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fatto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a modo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suo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0" i="0" dirty="0" err="1">
                <a:solidFill>
                  <a:srgbClr val="B3B3B3"/>
                </a:solidFill>
                <a:latin typeface="Arial"/>
              </a:rPr>
              <a:t>PostModernissimo</a:t>
            </a:r>
            <a:r>
              <a:rPr lang="it-IT" sz="1400" b="0" i="0" dirty="0">
                <a:solidFill>
                  <a:srgbClr val="B3B3B3"/>
                </a:solidFill>
                <a:latin typeface="Arial"/>
              </a:rPr>
              <a:t> · </a:t>
            </a:r>
            <a:r>
              <a:rPr sz="1400" b="0" i="0" dirty="0">
                <a:solidFill>
                  <a:srgbClr val="B3B3B3"/>
                </a:solidFill>
                <a:latin typeface="Arial"/>
              </a:rPr>
              <a:t>The Space Cinema </a:t>
            </a:r>
            <a:r>
              <a:rPr sz="1400" b="0" i="0" dirty="0" err="1">
                <a:solidFill>
                  <a:srgbClr val="B3B3B3"/>
                </a:solidFill>
                <a:latin typeface="Arial"/>
              </a:rPr>
              <a:t>Corciano</a:t>
            </a:r>
            <a:r>
              <a:rPr lang="it-IT" sz="1400" b="0" i="0" dirty="0">
                <a:solidFill>
                  <a:srgbClr val="B3B3B3"/>
                </a:solidFill>
                <a:latin typeface="Arial"/>
              </a:rPr>
              <a:t> ·</a:t>
            </a:r>
            <a:r>
              <a:rPr sz="1400" b="0" i="0" dirty="0">
                <a:solidFill>
                  <a:srgbClr val="B3B3B3"/>
                </a:solidFill>
                <a:latin typeface="Arial"/>
              </a:rPr>
              <a:t> UCI Cinemas Perugia</a:t>
            </a:r>
          </a:p>
          <a:p>
            <a:pPr algn="l">
              <a:spcAft>
                <a:spcPts val="600"/>
              </a:spcAft>
            </a:pPr>
            <a:r>
              <a:rPr sz="1400" b="0" i="0" dirty="0" err="1">
                <a:solidFill>
                  <a:srgbClr val="B3B3B3"/>
                </a:solidFill>
                <a:latin typeface="Arial"/>
              </a:rPr>
              <a:t>Programmazioni</a:t>
            </a:r>
            <a:r>
              <a:rPr sz="1400" b="0" i="0" dirty="0">
                <a:solidFill>
                  <a:srgbClr val="B3B3B3"/>
                </a:solidFill>
                <a:latin typeface="Arial"/>
              </a:rPr>
              <a:t> sparse, </a:t>
            </a:r>
            <a:r>
              <a:rPr sz="1400" b="0" i="0" dirty="0" err="1">
                <a:solidFill>
                  <a:srgbClr val="B3B3B3"/>
                </a:solidFill>
                <a:latin typeface="Arial"/>
              </a:rPr>
              <a:t>formati</a:t>
            </a:r>
            <a:r>
              <a:rPr sz="14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B3B3B3"/>
                </a:solidFill>
                <a:latin typeface="Arial"/>
              </a:rPr>
              <a:t>diversi</a:t>
            </a:r>
            <a:r>
              <a:rPr sz="1400" b="0" i="0" dirty="0">
                <a:solidFill>
                  <a:srgbClr val="B3B3B3"/>
                </a:solidFill>
                <a:latin typeface="Arial"/>
              </a:rPr>
              <a:t>, </a:t>
            </a:r>
            <a:r>
              <a:rPr sz="1400" b="0" i="0" dirty="0" err="1">
                <a:solidFill>
                  <a:srgbClr val="B3B3B3"/>
                </a:solidFill>
                <a:latin typeface="Arial"/>
              </a:rPr>
              <a:t>nessun</a:t>
            </a:r>
            <a:r>
              <a:rPr sz="14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B3B3B3"/>
                </a:solidFill>
                <a:latin typeface="Arial"/>
              </a:rPr>
              <a:t>colpo</a:t>
            </a:r>
            <a:r>
              <a:rPr sz="14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400" b="0" i="0" dirty="0" err="1">
                <a:solidFill>
                  <a:srgbClr val="B3B3B3"/>
                </a:solidFill>
                <a:latin typeface="Arial"/>
              </a:rPr>
              <a:t>d'occhio</a:t>
            </a:r>
            <a:r>
              <a:rPr sz="1400" b="0" i="0" dirty="0">
                <a:solidFill>
                  <a:srgbClr val="B3B3B3"/>
                </a:solidFill>
                <a:latin typeface="Arial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257800" cy="3611880"/>
          </a:xfrm>
          <a:prstGeom prst="roundRect">
            <a:avLst/>
          </a:prstGeom>
          <a:solidFill>
            <a:srgbClr val="7A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 dirty="0">
                <a:solidFill>
                  <a:srgbClr val="FFB3B8"/>
                </a:solidFill>
                <a:latin typeface="Arial"/>
              </a:rPr>
              <a:t>La </a:t>
            </a:r>
            <a:r>
              <a:rPr sz="1400" b="1" i="0" dirty="0" err="1">
                <a:solidFill>
                  <a:srgbClr val="FFB3B8"/>
                </a:solidFill>
                <a:latin typeface="Arial"/>
              </a:rPr>
              <a:t>soluzione</a:t>
            </a:r>
            <a:endParaRPr sz="1400" b="1" i="0" dirty="0">
              <a:solidFill>
                <a:srgbClr val="FFB3B8"/>
              </a:solidFill>
              <a:latin typeface="Arial"/>
            </a:endParaRPr>
          </a:p>
          <a:p>
            <a:pPr algn="l">
              <a:spcAft>
                <a:spcPts val="1600"/>
              </a:spcAft>
            </a:pPr>
            <a:r>
              <a:rPr sz="1900" b="1" i="0" dirty="0" err="1">
                <a:solidFill>
                  <a:srgbClr val="FFFFFF"/>
                </a:solidFill>
                <a:latin typeface="Arial"/>
              </a:rPr>
              <a:t>Un'unica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app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che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raccoglie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film,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orari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e cinema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dai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tre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siti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e li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mostra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in un </a:t>
            </a:r>
            <a:r>
              <a:rPr sz="1900" b="1" i="0" dirty="0" err="1">
                <a:solidFill>
                  <a:srgbClr val="FFFFFF"/>
                </a:solidFill>
                <a:latin typeface="Arial"/>
              </a:rPr>
              <a:t>posto</a:t>
            </a:r>
            <a:r>
              <a:rPr sz="1900" b="1" i="0" dirty="0">
                <a:solidFill>
                  <a:srgbClr val="FFFFFF"/>
                </a:solidFill>
                <a:latin typeface="Arial"/>
              </a:rPr>
              <a:t> solo.</a:t>
            </a:r>
          </a:p>
          <a:p>
            <a:pPr algn="l">
              <a:spcAft>
                <a:spcPts val="600"/>
              </a:spcAft>
            </a:pPr>
            <a:r>
              <a:rPr sz="1400" b="0" i="0" dirty="0">
                <a:solidFill>
                  <a:srgbClr val="FFFFFF"/>
                </a:solidFill>
                <a:latin typeface="Arial"/>
              </a:rPr>
              <a:t>Dati </a:t>
            </a:r>
            <a:r>
              <a:rPr sz="1400" b="0" i="0" dirty="0" err="1">
                <a:solidFill>
                  <a:srgbClr val="FFFFFF"/>
                </a:solidFill>
                <a:latin typeface="Arial"/>
              </a:rPr>
              <a:t>raccolti</a:t>
            </a:r>
            <a:r>
              <a:rPr sz="1400" b="0" i="0" dirty="0">
                <a:solidFill>
                  <a:srgbClr val="FFFFFF"/>
                </a:solidFill>
                <a:latin typeface="Arial"/>
              </a:rPr>
              <a:t> in </a:t>
            </a:r>
            <a:r>
              <a:rPr sz="1400" b="0" i="0" dirty="0" err="1">
                <a:solidFill>
                  <a:srgbClr val="FFFFFF"/>
                </a:solidFill>
                <a:latin typeface="Arial"/>
              </a:rPr>
              <a:t>automatico</a:t>
            </a:r>
            <a:r>
              <a:rPr sz="1400" b="0" i="0" dirty="0">
                <a:solidFill>
                  <a:srgbClr val="FFFFFF"/>
                </a:solidFill>
                <a:latin typeface="Arial"/>
              </a:rPr>
              <a:t>, non </a:t>
            </a:r>
            <a:r>
              <a:rPr sz="1400" b="0" i="0" dirty="0" err="1">
                <a:solidFill>
                  <a:srgbClr val="FFFFFF"/>
                </a:solidFill>
                <a:latin typeface="Arial"/>
              </a:rPr>
              <a:t>inseriti</a:t>
            </a:r>
            <a:r>
              <a:rPr sz="1400" b="0" i="0" dirty="0">
                <a:solidFill>
                  <a:srgbClr val="FFFFFF"/>
                </a:solidFill>
                <a:latin typeface="Arial"/>
              </a:rPr>
              <a:t> a mano.</a:t>
            </a:r>
          </a:p>
          <a:p>
            <a:pPr algn="l">
              <a:spcAft>
                <a:spcPts val="600"/>
              </a:spcAft>
            </a:pPr>
            <a:r>
              <a:rPr sz="1400" b="0" i="0" dirty="0">
                <a:solidFill>
                  <a:srgbClr val="FFFFFF"/>
                </a:solidFill>
                <a:latin typeface="Arial"/>
              </a:rPr>
              <a:t>Gratuita, senza </a:t>
            </a:r>
            <a:r>
              <a:rPr sz="1400" b="0" i="0" dirty="0" err="1">
                <a:solidFill>
                  <a:srgbClr val="FFFFFF"/>
                </a:solidFill>
                <a:latin typeface="Arial"/>
              </a:rPr>
              <a:t>registrazione</a:t>
            </a:r>
            <a:r>
              <a:rPr sz="1400" b="0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400" b="0" i="0" dirty="0" err="1">
                <a:solidFill>
                  <a:srgbClr val="FFFFFF"/>
                </a:solidFill>
                <a:latin typeface="Arial"/>
              </a:rPr>
              <a:t>su</a:t>
            </a:r>
            <a:r>
              <a:rPr sz="1400" b="0" i="0" dirty="0">
                <a:solidFill>
                  <a:srgbClr val="FFFFFF"/>
                </a:solidFill>
                <a:latin typeface="Arial"/>
              </a:rPr>
              <a:t> web e smartphone.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L'APP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Cosa fa, dal punto di vista di chi la usa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dirty="0">
                <a:solidFill>
                  <a:srgbClr val="E50914"/>
                </a:solidFill>
                <a:latin typeface="Arial"/>
              </a:rPr>
              <a:t>•  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Home con il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cartellone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del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giorno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e il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filtro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per data (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i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prossimi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7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giorni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).</a:t>
            </a:r>
          </a:p>
          <a:p>
            <a:pPr algn="l">
              <a:spcAft>
                <a:spcPts val="1500"/>
              </a:spcAft>
            </a:pPr>
            <a:r>
              <a:rPr sz="1900" dirty="0">
                <a:solidFill>
                  <a:srgbClr val="E50914"/>
                </a:solidFill>
                <a:latin typeface="Arial"/>
              </a:rPr>
              <a:t>• 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Dettaglio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del film con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gli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orari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raggruppati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per cinema e il link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diretto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all'acquisto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.</a:t>
            </a:r>
          </a:p>
          <a:p>
            <a:pPr algn="l">
              <a:spcAft>
                <a:spcPts val="1500"/>
              </a:spcAft>
            </a:pPr>
            <a:r>
              <a:rPr sz="1900" dirty="0">
                <a:solidFill>
                  <a:srgbClr val="E50914"/>
                </a:solidFill>
                <a:latin typeface="Arial"/>
              </a:rPr>
              <a:t>• 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Ricerca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per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titolo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, con debounce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sulle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chiamate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al backend.</a:t>
            </a:r>
          </a:p>
          <a:p>
            <a:pPr algn="l">
              <a:spcAft>
                <a:spcPts val="1500"/>
              </a:spcAft>
            </a:pPr>
            <a:r>
              <a:rPr sz="1900" dirty="0">
                <a:solidFill>
                  <a:srgbClr val="E50914"/>
                </a:solidFill>
                <a:latin typeface="Arial"/>
              </a:rPr>
              <a:t>• 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Mappa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dei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tre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cinema con marker e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indirizzi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, tap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che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apre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in Google Maps.</a:t>
            </a:r>
          </a:p>
          <a:p>
            <a:pPr algn="l">
              <a:spcAft>
                <a:spcPts val="1500"/>
              </a:spcAft>
            </a:pPr>
            <a:r>
              <a:rPr sz="1900" dirty="0">
                <a:solidFill>
                  <a:srgbClr val="E50914"/>
                </a:solidFill>
                <a:latin typeface="Arial"/>
              </a:rPr>
              <a:t>•  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Stessa app e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stessa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codebase: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gira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su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web e </a:t>
            </a:r>
            <a:r>
              <a:rPr sz="1900" b="0" dirty="0" err="1">
                <a:solidFill>
                  <a:srgbClr val="FFFFFF"/>
                </a:solidFill>
                <a:latin typeface="Arial"/>
              </a:rPr>
              <a:t>su</a:t>
            </a:r>
            <a:r>
              <a:rPr sz="1900" b="0" dirty="0">
                <a:solidFill>
                  <a:srgbClr val="FFFFFF"/>
                </a:solidFill>
                <a:latin typeface="Arial"/>
              </a:rPr>
              <a:t> smartphone (iOS/Android).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 dirty="0" err="1">
                <a:solidFill>
                  <a:srgbClr val="FFFFFF"/>
                </a:solidFill>
                <a:latin typeface="Arial"/>
              </a:rPr>
              <a:t>Architettura</a:t>
            </a:r>
            <a:r>
              <a:rPr lang="it-IT" sz="28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2800" b="1" i="0" dirty="0">
                <a:solidFill>
                  <a:srgbClr val="FFFFFF"/>
                </a:solidFill>
                <a:latin typeface="Arial"/>
              </a:rPr>
              <a:t>pipeline a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tre</a:t>
            </a:r>
            <a:r>
              <a:rPr sz="28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stadi</a:t>
            </a:r>
            <a:endParaRPr sz="28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1993392" cy="1554480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B3B3B3"/>
                </a:solidFill>
                <a:latin typeface="Arial"/>
              </a:rPr>
              <a:t>Siti 3 cinema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B3B3B3"/>
                </a:solidFill>
                <a:latin typeface="Arial"/>
              </a:rPr>
              <a:t>+ Wikidata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51760" y="2962656"/>
            <a:ext cx="274320" cy="292608"/>
          </a:xfrm>
          <a:prstGeom prst="rightArrow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962656" y="2331720"/>
            <a:ext cx="1993392" cy="1554480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SCRAPER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B3B3B3"/>
                </a:solidFill>
                <a:latin typeface="Arial"/>
              </a:rPr>
              <a:t>Python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74336" y="2962656"/>
            <a:ext cx="274320" cy="292608"/>
          </a:xfrm>
          <a:prstGeom prst="rightArrow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285232" y="2331720"/>
            <a:ext cx="1993392" cy="1554480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B3B3B3"/>
                </a:solidFill>
                <a:latin typeface="Arial"/>
              </a:rPr>
              <a:t>JSON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B3B3B3"/>
                </a:solidFill>
                <a:latin typeface="Arial"/>
              </a:rPr>
              <a:t>cinemas·films·showings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296912" y="2962656"/>
            <a:ext cx="274320" cy="292608"/>
          </a:xfrm>
          <a:prstGeom prst="rightArrow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607808" y="2331720"/>
            <a:ext cx="1993392" cy="1554480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BACKEND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B3B3B3"/>
                </a:solidFill>
                <a:latin typeface="Arial"/>
              </a:rPr>
              <a:t>FastAPI + SQLite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619488" y="2962656"/>
            <a:ext cx="274320" cy="292608"/>
          </a:xfrm>
          <a:prstGeom prst="rightArrow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930384" y="2331720"/>
            <a:ext cx="1993392" cy="1554480"/>
          </a:xfrm>
          <a:prstGeom prst="round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APP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B3B3B3"/>
                </a:solidFill>
                <a:latin typeface="Arial"/>
              </a:rPr>
              <a:t>React Native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43400"/>
            <a:ext cx="108813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dirty="0" err="1">
                <a:solidFill>
                  <a:srgbClr val="FFFFFF"/>
                </a:solidFill>
                <a:latin typeface="Arial"/>
              </a:rPr>
              <a:t>Contratti</a:t>
            </a:r>
            <a:r>
              <a:rPr sz="1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Arial"/>
              </a:rPr>
              <a:t>espliciti</a:t>
            </a:r>
            <a:r>
              <a:rPr sz="1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Arial"/>
              </a:rPr>
              <a:t>tra</a:t>
            </a:r>
            <a:r>
              <a:rPr sz="1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Arial"/>
              </a:rPr>
              <a:t>gli</a:t>
            </a:r>
            <a:r>
              <a:rPr sz="1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Arial"/>
              </a:rPr>
              <a:t>stadi</a:t>
            </a:r>
            <a:r>
              <a:rPr sz="1600" b="1" dirty="0">
                <a:solidFill>
                  <a:srgbClr val="FFFFFF"/>
                </a:solidFill>
                <a:latin typeface="Arial"/>
              </a:rPr>
              <a:t>: </a:t>
            </a:r>
            <a:r>
              <a:rPr sz="1600" b="0" dirty="0">
                <a:solidFill>
                  <a:srgbClr val="FFFFFF"/>
                </a:solidFill>
                <a:latin typeface="Arial"/>
              </a:rPr>
              <a:t>file JSON </a:t>
            </a:r>
            <a:r>
              <a:rPr sz="1600" b="0" dirty="0" err="1">
                <a:solidFill>
                  <a:srgbClr val="FFFFFF"/>
                </a:solidFill>
                <a:latin typeface="Arial"/>
              </a:rPr>
              <a:t>tra</a:t>
            </a:r>
            <a:r>
              <a:rPr sz="1600" b="0" dirty="0">
                <a:solidFill>
                  <a:srgbClr val="FFFFFF"/>
                </a:solidFill>
                <a:latin typeface="Arial"/>
              </a:rPr>
              <a:t> scraper e backend, API REST </a:t>
            </a:r>
            <a:r>
              <a:rPr sz="1600" b="0" dirty="0" err="1">
                <a:solidFill>
                  <a:srgbClr val="FFFFFF"/>
                </a:solidFill>
                <a:latin typeface="Arial"/>
              </a:rPr>
              <a:t>tra</a:t>
            </a:r>
            <a:r>
              <a:rPr sz="1600" b="0" dirty="0">
                <a:solidFill>
                  <a:srgbClr val="FFFFFF"/>
                </a:solidFill>
                <a:latin typeface="Arial"/>
              </a:rPr>
              <a:t> backend e app.</a:t>
            </a:r>
          </a:p>
          <a:p>
            <a:pPr algn="l">
              <a:spcAft>
                <a:spcPts val="600"/>
              </a:spcAft>
            </a:pPr>
            <a:r>
              <a:rPr sz="1500" b="0" i="0" dirty="0">
                <a:solidFill>
                  <a:srgbClr val="B3B3B3"/>
                </a:solidFill>
                <a:latin typeface="Arial"/>
              </a:rPr>
              <a:t>Ogni </a:t>
            </a:r>
            <a:r>
              <a:rPr sz="1500" b="0" i="0" dirty="0" err="1">
                <a:solidFill>
                  <a:srgbClr val="B3B3B3"/>
                </a:solidFill>
                <a:latin typeface="Arial"/>
              </a:rPr>
              <a:t>stadio</a:t>
            </a:r>
            <a:r>
              <a:rPr sz="15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500" b="0" i="0" dirty="0" err="1">
                <a:solidFill>
                  <a:srgbClr val="B3B3B3"/>
                </a:solidFill>
                <a:latin typeface="Arial"/>
              </a:rPr>
              <a:t>è</a:t>
            </a:r>
            <a:r>
              <a:rPr sz="15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500" b="0" i="0" dirty="0" err="1">
                <a:solidFill>
                  <a:srgbClr val="B3B3B3"/>
                </a:solidFill>
                <a:latin typeface="Arial"/>
              </a:rPr>
              <a:t>indipendente</a:t>
            </a:r>
            <a:r>
              <a:rPr sz="1500" b="0" i="0" dirty="0">
                <a:solidFill>
                  <a:srgbClr val="B3B3B3"/>
                </a:solidFill>
                <a:latin typeface="Arial"/>
              </a:rPr>
              <a:t> e </a:t>
            </a:r>
            <a:r>
              <a:rPr sz="1500" b="0" i="0" dirty="0" err="1">
                <a:solidFill>
                  <a:srgbClr val="B3B3B3"/>
                </a:solidFill>
                <a:latin typeface="Arial"/>
              </a:rPr>
              <a:t>si</a:t>
            </a:r>
            <a:r>
              <a:rPr sz="15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500" b="0" i="0" dirty="0" err="1">
                <a:solidFill>
                  <a:srgbClr val="B3B3B3"/>
                </a:solidFill>
                <a:latin typeface="Arial"/>
              </a:rPr>
              <a:t>testa</a:t>
            </a:r>
            <a:r>
              <a:rPr sz="1500" b="0" i="0" dirty="0">
                <a:solidFill>
                  <a:srgbClr val="B3B3B3"/>
                </a:solidFill>
                <a:latin typeface="Arial"/>
              </a:rPr>
              <a:t> da solo. Lo scraper </a:t>
            </a:r>
            <a:r>
              <a:rPr sz="1500" b="0" i="0" dirty="0" err="1">
                <a:solidFill>
                  <a:srgbClr val="B3B3B3"/>
                </a:solidFill>
                <a:latin typeface="Arial"/>
              </a:rPr>
              <a:t>gira</a:t>
            </a:r>
            <a:r>
              <a:rPr sz="1500" b="0" i="0" dirty="0">
                <a:solidFill>
                  <a:srgbClr val="B3B3B3"/>
                </a:solidFill>
                <a:latin typeface="Arial"/>
              </a:rPr>
              <a:t> ogni notte (</a:t>
            </a:r>
            <a:r>
              <a:rPr sz="1500" b="0" i="0" dirty="0" err="1">
                <a:solidFill>
                  <a:srgbClr val="B3B3B3"/>
                </a:solidFill>
                <a:latin typeface="Arial"/>
              </a:rPr>
              <a:t>systemd</a:t>
            </a:r>
            <a:r>
              <a:rPr sz="1500" b="0" i="0" dirty="0">
                <a:solidFill>
                  <a:srgbClr val="B3B3B3"/>
                </a:solidFill>
                <a:latin typeface="Arial"/>
              </a:rPr>
              <a:t> timer); il backend </a:t>
            </a:r>
            <a:r>
              <a:rPr sz="1500" b="0" i="0" dirty="0" err="1">
                <a:solidFill>
                  <a:srgbClr val="B3B3B3"/>
                </a:solidFill>
                <a:latin typeface="Arial"/>
              </a:rPr>
              <a:t>importa</a:t>
            </a:r>
            <a:r>
              <a:rPr sz="15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500" b="0" i="0" dirty="0" err="1">
                <a:solidFill>
                  <a:srgbClr val="B3B3B3"/>
                </a:solidFill>
                <a:latin typeface="Arial"/>
              </a:rPr>
              <a:t>i</a:t>
            </a:r>
            <a:r>
              <a:rPr sz="1500" b="0" i="0" dirty="0">
                <a:solidFill>
                  <a:srgbClr val="B3B3B3"/>
                </a:solidFill>
                <a:latin typeface="Arial"/>
              </a:rPr>
              <a:t> JSON con un seed </a:t>
            </a:r>
            <a:r>
              <a:rPr sz="1500" b="0" i="0" dirty="0" err="1">
                <a:solidFill>
                  <a:srgbClr val="B3B3B3"/>
                </a:solidFill>
                <a:latin typeface="Arial"/>
              </a:rPr>
              <a:t>idempotente</a:t>
            </a:r>
            <a:r>
              <a:rPr sz="1500" b="0" i="0" dirty="0">
                <a:solidFill>
                  <a:srgbClr val="B3B3B3"/>
                </a:solidFill>
                <a:latin typeface="Arial"/>
              </a:rPr>
              <a:t>; </a:t>
            </a:r>
            <a:r>
              <a:rPr sz="1500" b="0" i="0" dirty="0" err="1">
                <a:solidFill>
                  <a:srgbClr val="B3B3B3"/>
                </a:solidFill>
                <a:latin typeface="Arial"/>
              </a:rPr>
              <a:t>l'app</a:t>
            </a:r>
            <a:r>
              <a:rPr sz="15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500" b="0" i="0" dirty="0" err="1">
                <a:solidFill>
                  <a:srgbClr val="B3B3B3"/>
                </a:solidFill>
                <a:latin typeface="Arial"/>
              </a:rPr>
              <a:t>consuma</a:t>
            </a:r>
            <a:r>
              <a:rPr sz="15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500" b="0" i="0" dirty="0" err="1">
                <a:solidFill>
                  <a:srgbClr val="B3B3B3"/>
                </a:solidFill>
                <a:latin typeface="Arial"/>
              </a:rPr>
              <a:t>l'API</a:t>
            </a:r>
            <a:r>
              <a:rPr sz="1500" b="0" i="0" dirty="0">
                <a:solidFill>
                  <a:srgbClr val="B3B3B3"/>
                </a:solidFill>
                <a:latin typeface="Arial"/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ANALISI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Requisiti funzionali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4988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48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9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T="27432" marB="27432" anchor="ctr">
                    <a:solidFill>
                      <a:srgbClr val="E509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Requisito</a:t>
                      </a:r>
                    </a:p>
                  </a:txBody>
                  <a:tcPr marT="27432" marB="27432" anchor="ctr">
                    <a:solidFill>
                      <a:srgbClr val="E509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Priorità</a:t>
                      </a:r>
                    </a:p>
                  </a:txBody>
                  <a:tcPr marT="27432" marB="27432" anchor="ctr">
                    <a:solidFill>
                      <a:srgbClr val="E509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RF-01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Lista dei cinema umbri (nome, città, indirizzo, sito)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RF-02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Programmazione di ogni cinema (film, orari, giorni)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RF-03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Cinema su mappa interattiva con marker cliccabili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RF-04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Filtro per data (oggi, domani, settimana)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RF-05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Filtro per comune / zona geografica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Media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RF-06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Scheda dettaglio film (genere, durata, poster, sinossi)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Media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RF-07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Link diretto al sito del cinema per l'acquisto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RF-08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Aggiornamento automatico via scraping schedulato (24h)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RF-09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Rispetto di robots.txt, niente pagine protette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RF-10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Ricerca per titolo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Media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RF-11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Avviso se i dati di un cinema sono vecchi di oltre 48h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Bassa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ANALISI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Requisiti non funzionali e priorità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5669280" cy="411480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 dirty="0">
                <a:solidFill>
                  <a:srgbClr val="E50914"/>
                </a:solidFill>
                <a:latin typeface="Arial"/>
              </a:rPr>
              <a:t>Non </a:t>
            </a:r>
            <a:r>
              <a:rPr sz="1400" b="1" i="0" dirty="0" err="1">
                <a:solidFill>
                  <a:srgbClr val="E50914"/>
                </a:solidFill>
                <a:latin typeface="Arial"/>
              </a:rPr>
              <a:t>funzionali</a:t>
            </a:r>
            <a:r>
              <a:rPr sz="1400" b="1" i="0" dirty="0">
                <a:solidFill>
                  <a:srgbClr val="E50914"/>
                </a:solidFill>
                <a:latin typeface="Arial"/>
              </a:rPr>
              <a:t> (RNF-01 … 07)</a:t>
            </a:r>
          </a:p>
          <a:p>
            <a:pPr algn="l">
              <a:spcAft>
                <a:spcPts val="800"/>
              </a:spcAft>
            </a:pPr>
            <a:r>
              <a:rPr sz="1300" dirty="0">
                <a:solidFill>
                  <a:srgbClr val="E50914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Portabilità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: iOS 16+ e Android 10+ da un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unico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 codebase</a:t>
            </a:r>
          </a:p>
          <a:p>
            <a:pPr algn="l">
              <a:spcAft>
                <a:spcPts val="800"/>
              </a:spcAft>
            </a:pPr>
            <a:r>
              <a:rPr sz="1300" dirty="0">
                <a:solidFill>
                  <a:srgbClr val="E50914"/>
                </a:solidFill>
                <a:latin typeface="Arial"/>
              </a:rPr>
              <a:t>•  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Aggiornamento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dati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entro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 24h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dalla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fonte</a:t>
            </a:r>
            <a:endParaRPr sz="1300" b="0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800"/>
              </a:spcAft>
            </a:pPr>
            <a:r>
              <a:rPr sz="1300" dirty="0">
                <a:solidFill>
                  <a:srgbClr val="E50914"/>
                </a:solidFill>
                <a:latin typeface="Arial"/>
              </a:rPr>
              <a:t>•  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Privacy: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nessun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 account,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nessun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tracciamento</a:t>
            </a:r>
            <a:endParaRPr sz="1300" b="0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800"/>
              </a:spcAft>
            </a:pPr>
            <a:r>
              <a:rPr sz="1300" dirty="0">
                <a:solidFill>
                  <a:srgbClr val="E50914"/>
                </a:solidFill>
                <a:latin typeface="Arial"/>
              </a:rPr>
              <a:t>•  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Compliance scraping: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robots.txt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, rate limit 1 req/s, run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notturna</a:t>
            </a:r>
            <a:endParaRPr sz="1300" b="0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800"/>
              </a:spcAft>
            </a:pPr>
            <a:r>
              <a:rPr sz="1300" dirty="0">
                <a:solidFill>
                  <a:srgbClr val="E50914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Scalabilità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estendibile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 ad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altre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regioni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 senza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cambi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Arial"/>
              </a:rPr>
              <a:t>strutturali</a:t>
            </a:r>
            <a:endParaRPr sz="1300"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92240" y="1737360"/>
            <a:ext cx="5029200" cy="411480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 dirty="0">
                <a:solidFill>
                  <a:srgbClr val="E50914"/>
                </a:solidFill>
                <a:latin typeface="Arial"/>
              </a:rPr>
              <a:t>Matrice </a:t>
            </a:r>
            <a:r>
              <a:rPr sz="1400" b="1" i="0" dirty="0" err="1">
                <a:solidFill>
                  <a:srgbClr val="E50914"/>
                </a:solidFill>
                <a:latin typeface="Arial"/>
              </a:rPr>
              <a:t>importanza-difficoltà</a:t>
            </a:r>
            <a:endParaRPr sz="1400" b="1" i="0" dirty="0">
              <a:solidFill>
                <a:srgbClr val="E50914"/>
              </a:solidFill>
              <a:latin typeface="Arial"/>
            </a:endParaRPr>
          </a:p>
          <a:p>
            <a:pPr algn="l">
              <a:spcAft>
                <a:spcPts val="1000"/>
              </a:spcAft>
            </a:pPr>
            <a:r>
              <a:rPr sz="1300" b="0" i="0" dirty="0">
                <a:solidFill>
                  <a:srgbClr val="B3B3B3"/>
                </a:solidFill>
                <a:latin typeface="Arial"/>
              </a:rPr>
              <a:t>Guida </a:t>
            </a:r>
            <a:r>
              <a:rPr sz="1300" b="0" i="0" dirty="0" err="1">
                <a:solidFill>
                  <a:srgbClr val="B3B3B3"/>
                </a:solidFill>
                <a:latin typeface="Arial"/>
              </a:rPr>
              <a:t>cosa</a:t>
            </a:r>
            <a:r>
              <a:rPr sz="13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B3B3B3"/>
                </a:solidFill>
                <a:latin typeface="Arial"/>
              </a:rPr>
              <a:t>entra</a:t>
            </a:r>
            <a:r>
              <a:rPr sz="13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B3B3B3"/>
                </a:solidFill>
                <a:latin typeface="Arial"/>
              </a:rPr>
              <a:t>nell'MVP</a:t>
            </a:r>
            <a:r>
              <a:rPr sz="1300" b="0" i="0" dirty="0">
                <a:solidFill>
                  <a:srgbClr val="B3B3B3"/>
                </a:solidFill>
                <a:latin typeface="Arial"/>
              </a:rPr>
              <a:t> e </a:t>
            </a:r>
            <a:r>
              <a:rPr sz="1300" b="0" i="0" dirty="0" err="1">
                <a:solidFill>
                  <a:srgbClr val="B3B3B3"/>
                </a:solidFill>
                <a:latin typeface="Arial"/>
              </a:rPr>
              <a:t>cosa</a:t>
            </a:r>
            <a:r>
              <a:rPr sz="13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B3B3B3"/>
                </a:solidFill>
                <a:latin typeface="Arial"/>
              </a:rPr>
              <a:t>si</a:t>
            </a:r>
            <a:r>
              <a:rPr sz="130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B3B3B3"/>
                </a:solidFill>
                <a:latin typeface="Arial"/>
              </a:rPr>
              <a:t>rimanda</a:t>
            </a:r>
            <a:r>
              <a:rPr sz="1300" b="0" i="0" dirty="0">
                <a:solidFill>
                  <a:srgbClr val="B3B3B3"/>
                </a:solidFill>
                <a:latin typeface="Arial"/>
              </a:rPr>
              <a:t>.</a:t>
            </a:r>
          </a:p>
          <a:p>
            <a:pPr algn="l">
              <a:spcAft>
                <a:spcPts val="900"/>
              </a:spcAft>
            </a:pPr>
            <a:r>
              <a:rPr sz="1300" b="1" dirty="0" err="1">
                <a:solidFill>
                  <a:srgbClr val="2ECC71"/>
                </a:solidFill>
                <a:latin typeface="Arial"/>
              </a:rPr>
              <a:t>Nell'MVP</a:t>
            </a:r>
            <a:r>
              <a:rPr sz="1300" b="1" dirty="0">
                <a:solidFill>
                  <a:srgbClr val="2ECC71"/>
                </a:solidFill>
                <a:latin typeface="Arial"/>
              </a:rPr>
              <a:t/>
            </a:r>
            <a:r>
              <a:rPr sz="1300" b="1" dirty="0" err="1">
                <a:solidFill>
                  <a:srgbClr val="2ECC71"/>
                </a:solidFill>
                <a:latin typeface="Arial"/>
              </a:rPr>
              <a:t/>
            </a:r>
            <a:r>
              <a:rPr lang="it-IT" sz="1300" b="1" dirty="0">
                <a:solidFill>
                  <a:srgbClr val="2ECC71"/>
                </a:solidFill>
                <a:latin typeface="Arial"/>
              </a:rPr>
              <a:t>: 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RF-01/02/03/04/</a:t>
            </a:r>
            <a:r>
              <a:rPr lang="it-IT" sz="1300" b="0" dirty="0">
                <a:solidFill>
                  <a:srgbClr val="FFFFFF"/>
                </a:solidFill>
                <a:latin typeface="Arial"/>
              </a:rPr>
              <a:t>06/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07</a:t>
            </a:r>
            <a:r>
              <a:rPr lang="it-IT" sz="1300" b="0" dirty="0">
                <a:solidFill>
                  <a:srgbClr val="FFFFFF"/>
                </a:solidFill>
                <a:latin typeface="Arial"/>
              </a:rPr>
              <a:t>/09/10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 </a:t>
            </a:r>
            <a:endParaRPr lang="it-IT" sz="1300" b="0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900"/>
              </a:spcAft>
            </a:pPr>
            <a:r>
              <a:rPr sz="1300" b="1" dirty="0" err="1">
                <a:solidFill>
                  <a:srgbClr val="FFA500"/>
                </a:solidFill>
                <a:latin typeface="Arial"/>
              </a:rPr>
              <a:t>Da pianificare con cura</a:t>
            </a:r>
            <a:r>
              <a:rPr sz="1300" b="1" dirty="0">
                <a:solidFill>
                  <a:srgbClr val="FFA500"/>
                </a:solidFill>
                <a:latin typeface="Arial"/>
              </a:rPr>
              <a:t/>
            </a:r>
            <a:r>
              <a:rPr sz="1300" b="1" dirty="0" err="1">
                <a:solidFill>
                  <a:srgbClr val="FFA500"/>
                </a:solidFill>
                <a:latin typeface="Arial"/>
              </a:rPr>
              <a:t/>
            </a:r>
            <a:r>
              <a:rPr lang="it-IT" sz="1300" b="1" dirty="0">
                <a:solidFill>
                  <a:srgbClr val="FFA500"/>
                </a:solidFill>
                <a:latin typeface="Arial"/>
              </a:rPr>
              <a:t>: 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RF-08</a:t>
            </a:r>
            <a:endParaRPr lang="it-IT" sz="1300" b="0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900"/>
              </a:spcAft>
            </a:pPr>
            <a:r>
              <a:rPr sz="1300" b="1" dirty="0">
                <a:solidFill>
                  <a:srgbClr val="B3B3B3"/>
                </a:solidFill>
                <a:latin typeface="Arial"/>
              </a:rPr>
              <a:t>Da </a:t>
            </a:r>
            <a:r>
              <a:rPr lang="it-IT" sz="1300" b="1" dirty="0">
                <a:solidFill>
                  <a:srgbClr val="B3B3B3"/>
                </a:solidFill>
                <a:latin typeface="Arial"/>
              </a:rPr>
              <a:t>valutare: 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RF-0</a:t>
            </a:r>
            <a:r>
              <a:rPr lang="it-IT" sz="1300" b="0" dirty="0">
                <a:solidFill>
                  <a:srgbClr val="FFFFFF"/>
                </a:solidFill>
                <a:latin typeface="Arial"/>
              </a:rPr>
              <a:t>5</a:t>
            </a:r>
            <a:endParaRPr sz="1300" b="0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900"/>
              </a:spcAft>
            </a:pPr>
            <a:r>
              <a:rPr sz="1300" b="1" dirty="0">
                <a:solidFill>
                  <a:srgbClr val="808080"/>
                </a:solidFill>
                <a:latin typeface="Arial"/>
              </a:rPr>
              <a:t>Rilascio </a:t>
            </a:r>
            <a:r>
              <a:rPr sz="1300" b="1" dirty="0" err="1">
                <a:solidFill>
                  <a:srgbClr val="808080"/>
                </a:solidFill>
                <a:latin typeface="Arial"/>
              </a:rPr>
              <a:t>successivo</a:t>
            </a:r>
            <a:r>
              <a:rPr lang="it-IT" sz="1300" b="1" dirty="0">
                <a:solidFill>
                  <a:srgbClr val="808080"/>
                </a:solidFill>
                <a:latin typeface="Arial"/>
              </a:rPr>
              <a:t>: </a:t>
            </a:r>
            <a:r>
              <a:rPr sz="1300" b="0" dirty="0">
                <a:solidFill>
                  <a:srgbClr val="FFFFFF"/>
                </a:solidFill>
                <a:latin typeface="Arial"/>
              </a:rPr>
              <a:t>RF-11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AGILE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 dirty="0" err="1">
                <a:solidFill>
                  <a:srgbClr val="FFFFFF"/>
                </a:solidFill>
                <a:latin typeface="Arial"/>
              </a:rPr>
              <a:t>Processo</a:t>
            </a:r>
            <a:r>
              <a:rPr lang="it-IT" sz="2800" b="1" dirty="0">
                <a:solidFill>
                  <a:srgbClr val="FFFFFF"/>
                </a:solidFill>
                <a:latin typeface="Arial"/>
              </a:rPr>
              <a:t>: </a:t>
            </a:r>
            <a:r>
              <a:rPr sz="2800" b="1" i="0" dirty="0">
                <a:solidFill>
                  <a:srgbClr val="FFFFFF"/>
                </a:solidFill>
                <a:latin typeface="Arial"/>
              </a:rPr>
              <a:t>Scrum per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componente</a:t>
            </a:r>
            <a:endParaRPr sz="28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2084831" cy="1508760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Sprint 1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B3B3B3"/>
                </a:solidFill>
                <a:latin typeface="Arial"/>
              </a:rPr>
              <a:t>Scraper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E50914"/>
                </a:solidFill>
                <a:latin typeface="Arial"/>
              </a:rPr>
              <a:t>completato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2928" y="1874519"/>
            <a:ext cx="2084831" cy="1508760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Sprint 2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B3B3B3"/>
                </a:solidFill>
                <a:latin typeface="Arial"/>
              </a:rPr>
              <a:t>Backend API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E50914"/>
                </a:solidFill>
                <a:latin typeface="Arial"/>
              </a:rPr>
              <a:t>completato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5776" y="1874519"/>
            <a:ext cx="2084831" cy="1508760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Sprint 3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B3B3B3"/>
                </a:solidFill>
                <a:latin typeface="Arial"/>
              </a:rPr>
              <a:t>App + fetch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E50914"/>
                </a:solidFill>
                <a:latin typeface="Arial"/>
              </a:rPr>
              <a:t>completato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78624" y="1874519"/>
            <a:ext cx="2084831" cy="1508760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Sprint 4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B3B3B3"/>
                </a:solidFill>
                <a:latin typeface="Arial"/>
              </a:rPr>
              <a:t>Mappa, dettaglio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E50914"/>
                </a:solidFill>
                <a:latin typeface="Arial"/>
              </a:rPr>
              <a:t>completato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91472" y="1874519"/>
            <a:ext cx="2084831" cy="1508760"/>
          </a:xfrm>
          <a:prstGeom prst="roundRect">
            <a:avLst/>
          </a:prstGeom>
          <a:solidFill>
            <a:srgbClr val="1F1F1F"/>
          </a:solidFill>
          <a:ln w="1587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Sprint 5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B3B3B3"/>
                </a:solidFill>
                <a:latin typeface="Arial"/>
              </a:rPr>
              <a:t>Deploy, avviso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808080"/>
                </a:solidFill>
                <a:latin typeface="Arial"/>
              </a:rPr>
              <a:t>in parte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10881360" cy="12875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 dirty="0" err="1">
                <a:solidFill>
                  <a:srgbClr val="E50914"/>
                </a:solidFill>
                <a:latin typeface="Arial"/>
              </a:rPr>
              <a:t>Ordine</a:t>
            </a:r>
            <a:r>
              <a:rPr sz="1600" b="1" i="0" dirty="0">
                <a:solidFill>
                  <a:srgbClr val="E50914"/>
                </a:solidFill>
                <a:latin typeface="Arial"/>
              </a:rPr>
              <a:t> </a:t>
            </a:r>
            <a:r>
              <a:rPr sz="1600" b="1" i="0" dirty="0" err="1">
                <a:solidFill>
                  <a:srgbClr val="E50914"/>
                </a:solidFill>
                <a:latin typeface="Arial"/>
              </a:rPr>
              <a:t>guidato</a:t>
            </a:r>
            <a:r>
              <a:rPr sz="1600" b="1" i="0" dirty="0">
                <a:solidFill>
                  <a:srgbClr val="E50914"/>
                </a:solidFill>
                <a:latin typeface="Arial"/>
              </a:rPr>
              <a:t> </a:t>
            </a:r>
            <a:r>
              <a:rPr sz="1600" b="1" i="0" dirty="0" err="1">
                <a:solidFill>
                  <a:srgbClr val="E50914"/>
                </a:solidFill>
                <a:latin typeface="Arial"/>
              </a:rPr>
              <a:t>dalle</a:t>
            </a:r>
            <a:r>
              <a:rPr sz="1600" b="1" i="0" dirty="0">
                <a:solidFill>
                  <a:srgbClr val="E50914"/>
                </a:solidFill>
                <a:latin typeface="Arial"/>
              </a:rPr>
              <a:t> </a:t>
            </a:r>
            <a:r>
              <a:rPr sz="1600" b="1" i="0" dirty="0" err="1">
                <a:solidFill>
                  <a:srgbClr val="E50914"/>
                </a:solidFill>
                <a:latin typeface="Arial"/>
              </a:rPr>
              <a:t>dipendenze</a:t>
            </a:r>
            <a:endParaRPr sz="1600" b="1" i="0" dirty="0">
              <a:solidFill>
                <a:srgbClr val="E50914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FFFFFF"/>
                </a:solidFill>
                <a:latin typeface="Arial"/>
              </a:rPr>
              <a:t>Prima lo scraper, per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validare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 la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fattibilità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 (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i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siti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sono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scrapabili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?). Poi il backend,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che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sblocca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 il frontend con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dati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reali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.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Infine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l'app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. Ogni sprint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consegna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qualcosa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 di </a:t>
            </a:r>
            <a:r>
              <a:rPr sz="1500" b="0" i="0" dirty="0" err="1">
                <a:solidFill>
                  <a:srgbClr val="FFFFFF"/>
                </a:solidFill>
                <a:latin typeface="Arial"/>
              </a:rPr>
              <a:t>verificabile</a:t>
            </a:r>
            <a:r>
              <a:rPr sz="1500" b="0" i="0" dirty="0">
                <a:solidFill>
                  <a:srgbClr val="FFFFFF"/>
                </a:solidFill>
                <a:latin typeface="Arial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500" b="1" dirty="0">
                <a:solidFill>
                  <a:srgbClr val="B3B3B3"/>
                </a:solidFill>
                <a:latin typeface="Arial"/>
              </a:rPr>
              <a:t>Rilasci </a:t>
            </a:r>
            <a:r>
              <a:rPr sz="1500" b="1" dirty="0" err="1">
                <a:solidFill>
                  <a:srgbClr val="B3B3B3"/>
                </a:solidFill>
                <a:latin typeface="Arial"/>
              </a:rPr>
              <a:t>incrementali</a:t>
            </a:r>
            <a:r>
              <a:rPr sz="1500" b="1" dirty="0">
                <a:solidFill>
                  <a:srgbClr val="B3B3B3"/>
                </a:solidFill>
                <a:latin typeface="Arial"/>
              </a:rPr>
              <a:t>:  </a:t>
            </a:r>
            <a:r>
              <a:rPr sz="1500" b="0" dirty="0">
                <a:solidFill>
                  <a:srgbClr val="B3B3B3"/>
                </a:solidFill>
                <a:latin typeface="Arial"/>
              </a:rPr>
              <a:t>Alpha (solo API)  →  1.0 MVP (</a:t>
            </a:r>
            <a:r>
              <a:rPr sz="1500" b="0" dirty="0" err="1">
                <a:solidFill>
                  <a:srgbClr val="B3B3B3"/>
                </a:solidFill>
                <a:latin typeface="Arial"/>
              </a:rPr>
              <a:t>oggi</a:t>
            </a:r>
            <a:r>
              <a:rPr sz="1500" b="0" dirty="0">
                <a:solidFill>
                  <a:srgbClr val="B3B3B3"/>
                </a:solidFill>
                <a:latin typeface="Arial"/>
              </a:rPr>
              <a:t>)  →  1.1 (</a:t>
            </a:r>
            <a:r>
              <a:rPr sz="1500" b="0" dirty="0" err="1">
                <a:solidFill>
                  <a:srgbClr val="B3B3B3"/>
                </a:solidFill>
                <a:latin typeface="Arial"/>
              </a:rPr>
              <a:t>avviso</a:t>
            </a:r>
            <a:r>
              <a:rPr sz="150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500" b="0" dirty="0" err="1">
                <a:solidFill>
                  <a:srgbClr val="B3B3B3"/>
                </a:solidFill>
                <a:latin typeface="Arial"/>
              </a:rPr>
              <a:t>dati</a:t>
            </a:r>
            <a:r>
              <a:rPr sz="1500" b="0" dirty="0">
                <a:solidFill>
                  <a:srgbClr val="B3B3B3"/>
                </a:solidFill>
                <a:latin typeface="Arial"/>
              </a:rPr>
              <a:t> e deploy).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COMPONENTE 1 DI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 dirty="0">
                <a:solidFill>
                  <a:srgbClr val="FFFFFF"/>
                </a:solidFill>
                <a:latin typeface="Arial"/>
              </a:rPr>
              <a:t>Scraper</a:t>
            </a:r>
            <a:r>
              <a:rPr lang="it-IT" sz="2800" b="1" i="0" dirty="0">
                <a:solidFill>
                  <a:srgbClr val="FFFFFF"/>
                </a:solidFill>
                <a:latin typeface="Arial"/>
              </a:rPr>
              <a:t>: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dai</a:t>
            </a:r>
            <a:r>
              <a:rPr sz="28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siti</a:t>
            </a:r>
            <a:r>
              <a:rPr sz="2800" b="1" i="0" dirty="0">
                <a:solidFill>
                  <a:srgbClr val="FFFFFF"/>
                </a:solidFill>
                <a:latin typeface="Arial"/>
              </a:rPr>
              <a:t> ai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dati</a:t>
            </a:r>
            <a:r>
              <a:rPr sz="28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strutturati</a:t>
            </a:r>
            <a:endParaRPr sz="28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3B3B3"/>
                </a:solidFill>
                <a:latin typeface="Arial"/>
              </a:rPr>
              <a:t>Un connettore per cinema (pattern Strategy): stessa interfaccia, tecnica diversa per ogni fonte.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538728" cy="1371600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t"/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50914"/>
                </a:solidFill>
                <a:latin typeface="Arial"/>
              </a:rPr>
              <a:t>PostModernissimo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Sito Next.js — parsing del payload RSC + HTML (BeautifulSoup/lxml)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2011680"/>
            <a:ext cx="3538728" cy="1371600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1E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t"/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E90FF"/>
                </a:solidFill>
                <a:latin typeface="Arial"/>
              </a:rPr>
              <a:t>The Space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API REST OAuth2, con fallback CloakBrowser se l'API cambia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2011680"/>
            <a:ext cx="3538728" cy="1371600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FFA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rtlCol="0" anchor="t"/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FFA500"/>
                </a:solidFill>
                <a:latin typeface="Arial"/>
              </a:rPr>
              <a:t>UCI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API Cloud Run non documentata, ricostruita dal traffico di rete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3B3B3"/>
                </a:solidFill>
                <a:latin typeface="Arial"/>
              </a:rPr>
              <a:t>Poi, per ogni film raccolto: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993392" cy="100584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Normalizza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titoli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51760" y="4361688"/>
            <a:ext cx="274320" cy="237744"/>
          </a:xfrm>
          <a:prstGeom prst="rightArrow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962656" y="3977639"/>
            <a:ext cx="1993392" cy="100584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Deduplica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74336" y="4361688"/>
            <a:ext cx="274320" cy="237744"/>
          </a:xfrm>
          <a:prstGeom prst="rightArrow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285232" y="3977639"/>
            <a:ext cx="1993392" cy="100584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Arricchisce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da Wikidata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96912" y="4361688"/>
            <a:ext cx="274320" cy="237744"/>
          </a:xfrm>
          <a:prstGeom prst="rightArrow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607808" y="3977639"/>
            <a:ext cx="1993392" cy="100584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Delta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tracking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619488" y="4361688"/>
            <a:ext cx="274320" cy="237744"/>
          </a:xfrm>
          <a:prstGeom prst="rightArrow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930384" y="3977639"/>
            <a:ext cx="1993392" cy="1005840"/>
          </a:xfrm>
          <a:prstGeom prst="roundRect">
            <a:avLst/>
          </a:prstGeom>
          <a:solidFill>
            <a:srgbClr val="E50914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Scrive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3 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dirty="0" err="1">
                <a:solidFill>
                  <a:srgbClr val="FFFFFF"/>
                </a:solidFill>
                <a:latin typeface="Arial"/>
              </a:rPr>
              <a:t>Normalizzazione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(</a:t>
            </a:r>
            <a:r>
              <a:rPr sz="1300" b="0" dirty="0" err="1">
                <a:solidFill>
                  <a:srgbClr val="B3B3B3"/>
                </a:solidFill>
                <a:latin typeface="Arial"/>
              </a:rPr>
              <a:t>accenti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/</a:t>
            </a:r>
            <a:r>
              <a:rPr sz="1300" b="0" dirty="0" err="1">
                <a:solidFill>
                  <a:srgbClr val="B3B3B3"/>
                </a:solidFill>
                <a:latin typeface="Arial"/>
              </a:rPr>
              <a:t>punteggiatura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via) per </a:t>
            </a:r>
            <a:r>
              <a:rPr sz="1300" b="0" dirty="0" err="1">
                <a:solidFill>
                  <a:srgbClr val="B3B3B3"/>
                </a:solidFill>
                <a:latin typeface="Arial"/>
              </a:rPr>
              <a:t>capire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B3B3B3"/>
                </a:solidFill>
                <a:latin typeface="Arial"/>
              </a:rPr>
              <a:t>che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"Dune – </a:t>
            </a:r>
            <a:r>
              <a:rPr sz="1300" b="0" dirty="0" err="1">
                <a:solidFill>
                  <a:srgbClr val="B3B3B3"/>
                </a:solidFill>
                <a:latin typeface="Arial"/>
              </a:rPr>
              <a:t>Parte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2" e "DUNE </a:t>
            </a:r>
            <a:r>
              <a:rPr sz="1300" b="0" dirty="0" err="1">
                <a:solidFill>
                  <a:srgbClr val="B3B3B3"/>
                </a:solidFill>
                <a:latin typeface="Arial"/>
              </a:rPr>
              <a:t>Parte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2" </a:t>
            </a:r>
            <a:r>
              <a:rPr sz="1300" b="0" dirty="0" err="1">
                <a:solidFill>
                  <a:srgbClr val="B3B3B3"/>
                </a:solidFill>
                <a:latin typeface="Arial"/>
              </a:rPr>
              <a:t>sono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lo </a:t>
            </a:r>
            <a:r>
              <a:rPr sz="1300" b="0" dirty="0" err="1">
                <a:solidFill>
                  <a:srgbClr val="B3B3B3"/>
                </a:solidFill>
                <a:latin typeface="Arial"/>
              </a:rPr>
              <a:t>stesso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film · </a:t>
            </a:r>
            <a:r>
              <a:rPr sz="1300" b="1" dirty="0" err="1">
                <a:solidFill>
                  <a:srgbClr val="FFFFFF"/>
                </a:solidFill>
                <a:latin typeface="Arial"/>
              </a:rPr>
              <a:t>Wikidata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SPARQL con cache · </a:t>
            </a:r>
            <a:r>
              <a:rPr sz="1300" b="1" dirty="0">
                <a:solidFill>
                  <a:srgbClr val="FFFFFF"/>
                </a:solidFill>
                <a:latin typeface="Arial"/>
              </a:rPr>
              <a:t>delta tracking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B3B3B3"/>
                </a:solidFill>
                <a:latin typeface="Arial"/>
              </a:rPr>
              <a:t>tiene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B3B3B3"/>
                </a:solidFill>
                <a:latin typeface="Arial"/>
              </a:rPr>
              <a:t>i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B3B3B3"/>
                </a:solidFill>
                <a:latin typeface="Arial"/>
              </a:rPr>
              <a:t>dati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B3B3B3"/>
                </a:solidFill>
                <a:latin typeface="Arial"/>
              </a:rPr>
              <a:t>vecchi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B3B3B3"/>
                </a:solidFill>
                <a:latin typeface="Arial"/>
              </a:rPr>
              <a:t>marcandoli</a:t>
            </a:r>
            <a:r>
              <a:rPr sz="1300" b="0" dirty="0">
                <a:solidFill>
                  <a:srgbClr val="B3B3B3"/>
                </a:solidFill>
                <a:latin typeface="Arial"/>
              </a:rPr>
              <a:t>.</a:t>
            </a:r>
          </a:p>
          <a:p>
            <a:pPr algn="l">
              <a:spcAft>
                <a:spcPts val="300"/>
              </a:spcAft>
            </a:pPr>
            <a:r>
              <a:rPr sz="1400" b="0" dirty="0">
                <a:solidFill>
                  <a:srgbClr val="B3B3B3"/>
                </a:solidFill>
                <a:latin typeface="Arial"/>
              </a:rPr>
              <a:t>In </a:t>
            </a:r>
            <a:r>
              <a:rPr sz="1400" b="0" dirty="0" err="1">
                <a:solidFill>
                  <a:srgbClr val="B3B3B3"/>
                </a:solidFill>
                <a:latin typeface="Arial"/>
              </a:rPr>
              <a:t>produzione</a:t>
            </a:r>
            <a:r>
              <a:rPr sz="1400" b="0" dirty="0">
                <a:solidFill>
                  <a:srgbClr val="B3B3B3"/>
                </a:solidFill>
                <a:latin typeface="Arial"/>
              </a:rPr>
              <a:t>: </a:t>
            </a:r>
            <a:r>
              <a:rPr sz="1400" b="1" dirty="0" err="1">
                <a:solidFill>
                  <a:srgbClr val="FFFFFF"/>
                </a:solidFill>
                <a:latin typeface="Arial"/>
              </a:rPr>
              <a:t>systemd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 timer alle 03:00</a:t>
            </a:r>
            <a:r>
              <a:rPr sz="1400" b="0" dirty="0">
                <a:solidFill>
                  <a:srgbClr val="808080"/>
                </a:solidFill>
                <a:latin typeface="Arial"/>
              </a:rPr>
              <a:t>   ·   </a:t>
            </a:r>
            <a:r>
              <a:rPr sz="1400" b="1" dirty="0">
                <a:solidFill>
                  <a:srgbClr val="E50914"/>
                </a:solidFill>
                <a:latin typeface="Arial"/>
              </a:rPr>
              <a:t>75 test</a:t>
            </a:r>
            <a:r>
              <a:rPr sz="1400" b="0" dirty="0">
                <a:solidFill>
                  <a:srgbClr val="B3B3B3"/>
                </a:solidFill>
                <a:latin typeface="Arial"/>
              </a:rPr>
              <a:t>, lint ruff </a:t>
            </a:r>
            <a:r>
              <a:rPr sz="1400" b="0" dirty="0" err="1">
                <a:solidFill>
                  <a:srgbClr val="B3B3B3"/>
                </a:solidFill>
                <a:latin typeface="Arial"/>
              </a:rPr>
              <a:t>pulito</a:t>
            </a:r>
            <a:r>
              <a:rPr sz="1400" b="0" dirty="0">
                <a:solidFill>
                  <a:srgbClr val="B3B3B3"/>
                </a:solidFill>
                <a:latin typeface="Arial"/>
              </a:rPr>
              <a:t>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COMPONENTE 2 DI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 dirty="0">
                <a:solidFill>
                  <a:srgbClr val="FFFFFF"/>
                </a:solidFill>
                <a:latin typeface="Arial"/>
              </a:rPr>
              <a:t>Backend</a:t>
            </a:r>
            <a:r>
              <a:rPr lang="it-IT" sz="2800" b="1" i="0" dirty="0">
                <a:solidFill>
                  <a:srgbClr val="FFFFFF"/>
                </a:solidFill>
                <a:latin typeface="Arial"/>
              </a:rPr>
              <a:t>: </a:t>
            </a:r>
            <a:r>
              <a:rPr sz="2800" b="1" i="0" dirty="0">
                <a:solidFill>
                  <a:srgbClr val="FFFFFF"/>
                </a:solidFill>
                <a:latin typeface="Arial"/>
              </a:rPr>
              <a:t>API REST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su</a:t>
            </a:r>
            <a:r>
              <a:rPr sz="28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FastAPI</a:t>
            </a:r>
            <a:endParaRPr sz="28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3200400" cy="749808"/>
          </a:xfrm>
          <a:prstGeom prst="round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tlCol="0" anchor="ctr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routers/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865376"/>
            <a:ext cx="27432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3B3B3"/>
                </a:solidFill>
                <a:latin typeface="Arial"/>
              </a:rPr>
              <a:t>ricevono HTTP, validano, scelgono lo 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70048"/>
            <a:ext cx="3200400" cy="749808"/>
          </a:xfrm>
          <a:prstGeom prst="roundRect">
            <a:avLst/>
          </a:prstGeom>
          <a:solidFill>
            <a:srgbClr val="7A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tlCol="0" anchor="ctr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services/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706624"/>
            <a:ext cx="27432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3B3B3"/>
                </a:solidFill>
                <a:latin typeface="Arial"/>
              </a:rPr>
              <a:t>logica di business (es. "film di oggi")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11296"/>
            <a:ext cx="3200400" cy="749808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tlCol="0" anchor="ctr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repositories/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3547872"/>
            <a:ext cx="27432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3B3B3"/>
                </a:solidFill>
                <a:latin typeface="Arial"/>
              </a:rPr>
              <a:t>uniche classi che parlano col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52544"/>
            <a:ext cx="3200400" cy="749808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tlCol="0" anchor="ctr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models/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4389120"/>
            <a:ext cx="27432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 dirty="0">
                <a:solidFill>
                  <a:srgbClr val="B3B3B3"/>
                </a:solidFill>
                <a:latin typeface="Arial"/>
              </a:rPr>
              <a:t>le </a:t>
            </a:r>
            <a:r>
              <a:rPr sz="1150" b="0" i="0" dirty="0" err="1">
                <a:solidFill>
                  <a:srgbClr val="B3B3B3"/>
                </a:solidFill>
                <a:latin typeface="Arial"/>
              </a:rPr>
              <a:t>tre</a:t>
            </a:r>
            <a:r>
              <a:rPr sz="115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150" b="0" i="0" dirty="0" err="1">
                <a:solidFill>
                  <a:srgbClr val="B3B3B3"/>
                </a:solidFill>
                <a:latin typeface="Arial"/>
              </a:rPr>
              <a:t>tabelle</a:t>
            </a:r>
            <a:r>
              <a:rPr sz="1150" b="0" i="0" dirty="0">
                <a:solidFill>
                  <a:srgbClr val="B3B3B3"/>
                </a:solidFill>
                <a:latin typeface="Arial"/>
              </a:rPr>
              <a:t> </a:t>
            </a:r>
            <a:r>
              <a:rPr sz="1150" b="0" i="0" dirty="0" err="1">
                <a:solidFill>
                  <a:srgbClr val="B3B3B3"/>
                </a:solidFill>
                <a:latin typeface="Arial"/>
              </a:rPr>
              <a:t>SQLAlchemy</a:t>
            </a:r>
            <a:endParaRPr sz="1150" b="0" i="0" dirty="0">
              <a:solidFill>
                <a:srgbClr val="B3B3B3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903720" y="1828800"/>
            <a:ext cx="4617720" cy="3364992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 dirty="0">
                <a:solidFill>
                  <a:srgbClr val="E50914"/>
                </a:solidFill>
                <a:latin typeface="Arial"/>
              </a:rPr>
              <a:t>11 endpoint  ·  Swagger </a:t>
            </a:r>
            <a:r>
              <a:rPr sz="1400" b="1" i="0" dirty="0" err="1">
                <a:solidFill>
                  <a:srgbClr val="E50914"/>
                </a:solidFill>
                <a:latin typeface="Arial"/>
              </a:rPr>
              <a:t>su</a:t>
            </a:r>
            <a:r>
              <a:rPr sz="1400" b="1" i="0" dirty="0">
                <a:solidFill>
                  <a:srgbClr val="E50914"/>
                </a:solidFill>
                <a:latin typeface="Arial"/>
              </a:rPr>
              <a:t> /docs</a:t>
            </a:r>
          </a:p>
          <a:p>
            <a:pPr algn="l">
              <a:spcAft>
                <a:spcPts val="900"/>
              </a:spcAft>
            </a:pPr>
            <a:r>
              <a:rPr sz="1250" b="1" dirty="0">
                <a:solidFill>
                  <a:srgbClr val="E50914"/>
                </a:solidFill>
                <a:latin typeface="Arial"/>
              </a:rPr>
              <a:t>film  </a:t>
            </a:r>
            <a:r>
              <a:rPr sz="1250" b="0" dirty="0">
                <a:solidFill>
                  <a:srgbClr val="FFFFFF"/>
                </a:solidFill>
                <a:latin typeface="Arial"/>
              </a:rPr>
              <a:t>/</a:t>
            </a:r>
            <a:r>
              <a:rPr sz="1250" b="0" dirty="0" err="1">
                <a:solidFill>
                  <a:srgbClr val="FFFFFF"/>
                </a:solidFill>
                <a:latin typeface="Arial"/>
              </a:rPr>
              <a:t>oggi</a:t>
            </a:r>
            <a:r>
              <a:rPr sz="1250" b="0" dirty="0">
                <a:solidFill>
                  <a:srgbClr val="FFFFFF"/>
                </a:solidFill>
                <a:latin typeface="Arial"/>
              </a:rPr>
              <a:t> · /</a:t>
            </a:r>
            <a:r>
              <a:rPr sz="1250" b="0" dirty="0" err="1">
                <a:solidFill>
                  <a:srgbClr val="FFFFFF"/>
                </a:solidFill>
                <a:latin typeface="Arial"/>
              </a:rPr>
              <a:t>settimana</a:t>
            </a:r>
            <a:r>
              <a:rPr sz="1250" b="0" dirty="0">
                <a:solidFill>
                  <a:srgbClr val="FFFFFF"/>
                </a:solidFill>
                <a:latin typeface="Arial"/>
              </a:rPr>
              <a:t> · /search · /{id}</a:t>
            </a:r>
          </a:p>
          <a:p>
            <a:pPr algn="l">
              <a:spcAft>
                <a:spcPts val="900"/>
              </a:spcAft>
            </a:pPr>
            <a:r>
              <a:rPr sz="1250" b="1" dirty="0">
                <a:solidFill>
                  <a:srgbClr val="E50914"/>
                </a:solidFill>
                <a:latin typeface="Arial"/>
              </a:rPr>
              <a:t>cinema  </a:t>
            </a:r>
            <a:r>
              <a:rPr sz="1250" b="0" dirty="0">
                <a:solidFill>
                  <a:srgbClr val="FFFFFF"/>
                </a:solidFill>
                <a:latin typeface="Arial"/>
              </a:rPr>
              <a:t>/cinema · /{slug} · /{slug}/showings</a:t>
            </a:r>
          </a:p>
          <a:p>
            <a:pPr algn="l">
              <a:spcAft>
                <a:spcPts val="900"/>
              </a:spcAft>
            </a:pPr>
            <a:r>
              <a:rPr sz="1250" b="1" dirty="0">
                <a:solidFill>
                  <a:srgbClr val="E50914"/>
                </a:solidFill>
                <a:latin typeface="Arial"/>
              </a:rPr>
              <a:t>showings  </a:t>
            </a:r>
            <a:r>
              <a:rPr sz="1250" b="0" dirty="0">
                <a:solidFill>
                  <a:srgbClr val="FFFFFF"/>
                </a:solidFill>
                <a:latin typeface="Arial"/>
              </a:rPr>
              <a:t>?date=</a:t>
            </a:r>
          </a:p>
          <a:p>
            <a:pPr algn="l">
              <a:spcAft>
                <a:spcPts val="900"/>
              </a:spcAft>
            </a:pPr>
            <a:r>
              <a:rPr sz="1250" b="1" dirty="0">
                <a:solidFill>
                  <a:srgbClr val="E50914"/>
                </a:solidFill>
                <a:latin typeface="Arial"/>
              </a:rPr>
              <a:t>admin  </a:t>
            </a:r>
            <a:r>
              <a:rPr sz="1250" b="0" dirty="0">
                <a:solidFill>
                  <a:srgbClr val="FFFFFF"/>
                </a:solidFill>
                <a:latin typeface="Arial"/>
              </a:rPr>
              <a:t>/reimport · /dataset-info (token)</a:t>
            </a:r>
          </a:p>
          <a:p>
            <a:pPr algn="l">
              <a:spcAft>
                <a:spcPts val="900"/>
              </a:spcAft>
            </a:pPr>
            <a:r>
              <a:rPr sz="1250" b="1" dirty="0">
                <a:solidFill>
                  <a:srgbClr val="E50914"/>
                </a:solidFill>
                <a:latin typeface="Arial"/>
              </a:rPr>
              <a:t>health  </a:t>
            </a:r>
            <a:r>
              <a:rPr sz="1250" b="0" dirty="0">
                <a:solidFill>
                  <a:srgbClr val="FFFFFF"/>
                </a:solidFill>
                <a:latin typeface="Arial"/>
              </a:rPr>
              <a:t>/health</a:t>
            </a:r>
          </a:p>
          <a:p>
            <a:pPr algn="l">
              <a:spcAft>
                <a:spcPts val="700"/>
              </a:spcAft>
            </a:pPr>
            <a:r>
              <a:rPr sz="1200" b="0" dirty="0">
                <a:solidFill>
                  <a:srgbClr val="B3B3B3"/>
                </a:solidFill>
                <a:latin typeface="Arial"/>
              </a:rPr>
              <a:t>Tutti in sola </a:t>
            </a:r>
            <a:r>
              <a:rPr sz="1200" b="0" dirty="0" err="1">
                <a:solidFill>
                  <a:srgbClr val="B3B3B3"/>
                </a:solidFill>
                <a:latin typeface="Arial"/>
              </a:rPr>
              <a:t>lettura</a:t>
            </a:r>
            <a:r>
              <a:rPr sz="1200" b="0" dirty="0">
                <a:solidFill>
                  <a:srgbClr val="B3B3B3"/>
                </a:solidFill>
                <a:latin typeface="Arial"/>
              </a:rPr>
              <a:t> per </a:t>
            </a:r>
            <a:r>
              <a:rPr sz="1200" b="0" dirty="0" err="1">
                <a:solidFill>
                  <a:srgbClr val="B3B3B3"/>
                </a:solidFill>
                <a:latin typeface="Arial"/>
              </a:rPr>
              <a:t>l'app</a:t>
            </a:r>
            <a:r>
              <a:rPr sz="1200" b="0" dirty="0">
                <a:solidFill>
                  <a:srgbClr val="B3B3B3"/>
                </a:solidFill>
                <a:latin typeface="Arial"/>
              </a:rPr>
              <a:t>; </a:t>
            </a:r>
            <a:r>
              <a:rPr sz="1200" b="0" dirty="0" err="1">
                <a:solidFill>
                  <a:srgbClr val="B3B3B3"/>
                </a:solidFill>
                <a:latin typeface="Arial"/>
              </a:rPr>
              <a:t>i</a:t>
            </a:r>
            <a:r>
              <a:rPr sz="1200" b="0" dirty="0">
                <a:solidFill>
                  <a:srgbClr val="B3B3B3"/>
                </a:solidFill>
                <a:latin typeface="Arial"/>
              </a:rPr>
              <a:t> due </a:t>
            </a:r>
            <a:r>
              <a:rPr sz="1200" b="1" dirty="0">
                <a:solidFill>
                  <a:srgbClr val="E50914"/>
                </a:solidFill>
                <a:latin typeface="Arial"/>
              </a:rPr>
              <a:t>/admin</a:t>
            </a:r>
            <a:r>
              <a:rPr sz="120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B3B3B3"/>
                </a:solidFill>
                <a:latin typeface="Arial"/>
              </a:rPr>
              <a:t>protetti</a:t>
            </a:r>
            <a:r>
              <a:rPr sz="1200" b="0" dirty="0">
                <a:solidFill>
                  <a:srgbClr val="B3B3B3"/>
                </a:solidFill>
                <a:latin typeface="Arial"/>
              </a:rPr>
              <a:t> da X-Admin-Token.</a:t>
            </a:r>
          </a:p>
          <a:p>
            <a:pPr algn="l">
              <a:spcAft>
                <a:spcPts val="300"/>
              </a:spcAft>
            </a:pPr>
            <a:r>
              <a:rPr sz="1200" b="0" dirty="0">
                <a:solidFill>
                  <a:srgbClr val="B3B3B3"/>
                </a:solidFill>
                <a:latin typeface="Arial"/>
              </a:rPr>
              <a:t>Ogni </a:t>
            </a:r>
            <a:r>
              <a:rPr sz="1200" b="0" dirty="0" err="1">
                <a:solidFill>
                  <a:srgbClr val="B3B3B3"/>
                </a:solidFill>
                <a:latin typeface="Arial"/>
              </a:rPr>
              <a:t>spettacolo</a:t>
            </a:r>
            <a:r>
              <a:rPr sz="120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B3B3B3"/>
                </a:solidFill>
                <a:latin typeface="Arial"/>
              </a:rPr>
              <a:t>annida</a:t>
            </a:r>
            <a:r>
              <a:rPr sz="1200" b="0" dirty="0">
                <a:solidFill>
                  <a:srgbClr val="B3B3B3"/>
                </a:solidFill>
                <a:latin typeface="Arial"/>
              </a:rPr>
              <a:t> il film e il cinema.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10881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B3B3B3"/>
                </a:solidFill>
                <a:latin typeface="Arial"/>
              </a:rPr>
              <a:t>Stack: </a:t>
            </a:r>
            <a:r>
              <a:rPr sz="1350" b="1">
                <a:solidFill>
                  <a:srgbClr val="FFFFFF"/>
                </a:solidFill>
                <a:latin typeface="Arial"/>
              </a:rPr>
              <a:t>FastAPI · SQLAlchemy 2.0 · SQLite · Pydantic v2</a:t>
            </a:r>
            <a:r>
              <a:rPr sz="1350" b="0">
                <a:solidFill>
                  <a:srgbClr val="B3B3B3"/>
                </a:solidFill>
                <a:latin typeface="Arial"/>
              </a:rPr>
              <a:t>.   Seed </a:t>
            </a:r>
            <a:r>
              <a:rPr sz="1350" b="1">
                <a:solidFill>
                  <a:srgbClr val="FFFFFF"/>
                </a:solidFill>
                <a:latin typeface="Arial"/>
              </a:rPr>
              <a:t>idempotente</a:t>
            </a:r>
            <a:r>
              <a:rPr sz="1350" b="0">
                <a:solidFill>
                  <a:srgbClr val="B3B3B3"/>
                </a:solidFill>
                <a:latin typeface="Arial"/>
              </a:rPr>
              <a:t> dai JSON dello scraper (re-import senza duplicati).   </a:t>
            </a:r>
            <a:r>
              <a:rPr sz="1350" b="1">
                <a:solidFill>
                  <a:srgbClr val="E50914"/>
                </a:solidFill>
                <a:latin typeface="Arial"/>
              </a:rPr>
              <a:t>26 test</a:t>
            </a:r>
            <a:r>
              <a:rPr sz="1350" b="0">
                <a:solidFill>
                  <a:srgbClr val="B3B3B3"/>
                </a:solidFill>
                <a:latin typeface="Arial"/>
              </a:rPr>
              <a:t> (repository + endpoint con DB in-memory).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COMPONENTE 2 DI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Schema del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82579" y="1785574"/>
            <a:ext cx="3248022" cy="2441448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09728" rtlCol="0" anchor="t"/>
          <a:lstStyle/>
          <a:p>
            <a:pPr algn="l">
              <a:spcAft>
                <a:spcPts val="600"/>
              </a:spcAft>
            </a:pPr>
            <a:r>
              <a:rPr sz="1500" b="1" i="0" dirty="0">
                <a:solidFill>
                  <a:srgbClr val="E50914"/>
                </a:solidFill>
                <a:latin typeface="Arial"/>
              </a:rPr>
              <a:t>cinemas</a:t>
            </a:r>
          </a:p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FFFFFF"/>
                </a:solidFill>
                <a:latin typeface="Arial"/>
              </a:rPr>
              <a:t>slug : text</a:t>
            </a:r>
            <a:r>
              <a:rPr sz="1050" b="1" dirty="0">
                <a:solidFill>
                  <a:srgbClr val="E50914"/>
                </a:solidFill>
                <a:latin typeface="Arial"/>
              </a:rPr>
              <a:t>   PK</a:t>
            </a:r>
          </a:p>
          <a:p>
            <a:pPr algn="l">
              <a:spcAft>
                <a:spcPts val="200"/>
              </a:spcAft>
            </a:pPr>
            <a:r>
              <a:rPr sz="1050" b="0" dirty="0">
                <a:solidFill>
                  <a:srgbClr val="B3B3B3"/>
                </a:solidFill>
                <a:latin typeface="Arial"/>
              </a:rPr>
              <a:t>name, city, address</a:t>
            </a:r>
          </a:p>
          <a:p>
            <a:pPr algn="l">
              <a:spcAft>
                <a:spcPts val="200"/>
              </a:spcAft>
            </a:pPr>
            <a:r>
              <a:rPr sz="1050" b="0" dirty="0">
                <a:solidFill>
                  <a:srgbClr val="B3B3B3"/>
                </a:solidFill>
                <a:latin typeface="Arial"/>
              </a:rPr>
              <a:t>region  (def. Umbria)</a:t>
            </a:r>
          </a:p>
          <a:p>
            <a:pPr algn="l">
              <a:spcAft>
                <a:spcPts val="200"/>
              </a:spcAft>
            </a:pPr>
            <a:r>
              <a:rPr sz="1050" b="0" dirty="0" err="1">
                <a:solidFill>
                  <a:srgbClr val="B3B3B3"/>
                </a:solidFill>
                <a:latin typeface="Arial"/>
              </a:rPr>
              <a:t>lat</a:t>
            </a:r>
            <a:r>
              <a:rPr sz="1050" b="0" dirty="0">
                <a:solidFill>
                  <a:srgbClr val="B3B3B3"/>
                </a:solidFill>
                <a:latin typeface="Arial"/>
              </a:rPr>
              <a:t>, </a:t>
            </a:r>
            <a:r>
              <a:rPr sz="1050" b="0" dirty="0" err="1">
                <a:solidFill>
                  <a:srgbClr val="B3B3B3"/>
                </a:solidFill>
                <a:latin typeface="Arial"/>
              </a:rPr>
              <a:t>lon</a:t>
            </a:r>
            <a:r>
              <a:rPr sz="1050" b="0" dirty="0">
                <a:solidFill>
                  <a:srgbClr val="B3B3B3"/>
                </a:solidFill>
                <a:latin typeface="Arial"/>
              </a:rPr>
              <a:t> : float</a:t>
            </a:r>
          </a:p>
          <a:p>
            <a:pPr algn="l">
              <a:spcAft>
                <a:spcPts val="200"/>
              </a:spcAft>
            </a:pPr>
            <a:r>
              <a:rPr sz="1050" b="0" dirty="0">
                <a:solidFill>
                  <a:srgbClr val="B3B3B3"/>
                </a:solidFill>
                <a:latin typeface="Arial"/>
              </a:rPr>
              <a:t>website?, phone?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5818" y="1785574"/>
            <a:ext cx="3248021" cy="2441448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09728" rtlCol="0" anchor="t"/>
          <a:lstStyle/>
          <a:p>
            <a:pPr algn="l">
              <a:spcAft>
                <a:spcPts val="600"/>
              </a:spcAft>
            </a:pPr>
            <a:r>
              <a:rPr sz="1500" b="1" i="0" dirty="0">
                <a:solidFill>
                  <a:srgbClr val="E50914"/>
                </a:solidFill>
                <a:latin typeface="Arial"/>
              </a:rPr>
              <a:t>showings</a:t>
            </a:r>
          </a:p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FFFFFF"/>
                </a:solidFill>
                <a:latin typeface="Arial"/>
              </a:rPr>
              <a:t>id : int</a:t>
            </a:r>
            <a:r>
              <a:rPr sz="1050" b="1" dirty="0">
                <a:solidFill>
                  <a:srgbClr val="E50914"/>
                </a:solidFill>
                <a:latin typeface="Arial"/>
              </a:rPr>
              <a:t>   PK</a:t>
            </a:r>
          </a:p>
          <a:p>
            <a:pPr algn="l">
              <a:spcAft>
                <a:spcPts val="200"/>
              </a:spcAft>
            </a:pPr>
            <a:r>
              <a:rPr sz="1050" b="0" dirty="0" err="1">
                <a:solidFill>
                  <a:srgbClr val="1E90FF"/>
                </a:solidFill>
                <a:latin typeface="Arial"/>
              </a:rPr>
              <a:t>film_id</a:t>
            </a:r>
            <a:r>
              <a:rPr sz="1050" b="0" dirty="0">
                <a:solidFill>
                  <a:srgbClr val="1E90FF"/>
                </a:solidFill>
                <a:latin typeface="Arial"/>
              </a:rPr>
              <a:t> → films</a:t>
            </a:r>
            <a:r>
              <a:rPr sz="1050" b="1" dirty="0">
                <a:solidFill>
                  <a:srgbClr val="1E90FF"/>
                </a:solidFill>
                <a:latin typeface="Arial"/>
              </a:rPr>
              <a:t>   FK</a:t>
            </a:r>
          </a:p>
          <a:p>
            <a:pPr algn="l">
              <a:spcAft>
                <a:spcPts val="200"/>
              </a:spcAft>
            </a:pPr>
            <a:r>
              <a:rPr sz="1050" b="0" dirty="0" err="1">
                <a:solidFill>
                  <a:srgbClr val="1E90FF"/>
                </a:solidFill>
                <a:latin typeface="Arial"/>
              </a:rPr>
              <a:t>cinema_slug</a:t>
            </a:r>
            <a:r>
              <a:rPr sz="1050" b="0" dirty="0">
                <a:solidFill>
                  <a:srgbClr val="1E90FF"/>
                </a:solidFill>
                <a:latin typeface="Arial"/>
              </a:rPr>
              <a:t> → cinemas</a:t>
            </a:r>
            <a:r>
              <a:rPr sz="1050" b="1" dirty="0">
                <a:solidFill>
                  <a:srgbClr val="1E90FF"/>
                </a:solidFill>
                <a:latin typeface="Arial"/>
              </a:rPr>
              <a:t>   FK</a:t>
            </a:r>
          </a:p>
          <a:p>
            <a:pPr algn="l">
              <a:spcAft>
                <a:spcPts val="200"/>
              </a:spcAft>
            </a:pPr>
            <a:r>
              <a:rPr sz="1050" b="0" dirty="0">
                <a:solidFill>
                  <a:srgbClr val="B3B3B3"/>
                </a:solidFill>
                <a:latin typeface="Arial"/>
              </a:rPr>
              <a:t>date : date</a:t>
            </a:r>
          </a:p>
          <a:p>
            <a:pPr algn="l">
              <a:spcAft>
                <a:spcPts val="200"/>
              </a:spcAft>
            </a:pPr>
            <a:r>
              <a:rPr sz="1050" b="0" dirty="0">
                <a:solidFill>
                  <a:srgbClr val="B3B3B3"/>
                </a:solidFill>
                <a:latin typeface="Arial"/>
              </a:rPr>
              <a:t>times : </a:t>
            </a:r>
            <a:r>
              <a:rPr sz="1050" b="0" dirty="0" err="1">
                <a:solidFill>
                  <a:srgbClr val="B3B3B3"/>
                </a:solidFill>
                <a:latin typeface="Arial"/>
              </a:rPr>
              <a:t>json</a:t>
            </a:r>
            <a:r>
              <a:rPr sz="1050" b="0" dirty="0">
                <a:solidFill>
                  <a:srgbClr val="B3B3B3"/>
                </a:solidFill>
                <a:latin typeface="Arial"/>
              </a:rPr>
              <a:t> string</a:t>
            </a:r>
          </a:p>
          <a:p>
            <a:pPr algn="l">
              <a:spcAft>
                <a:spcPts val="200"/>
              </a:spcAft>
            </a:pPr>
            <a:r>
              <a:rPr sz="1050" b="0" dirty="0">
                <a:solidFill>
                  <a:srgbClr val="B3B3B3"/>
                </a:solidFill>
                <a:latin typeface="Arial"/>
              </a:rPr>
              <a:t>language?, screen?</a:t>
            </a:r>
          </a:p>
          <a:p>
            <a:pPr algn="l">
              <a:spcAft>
                <a:spcPts val="200"/>
              </a:spcAft>
            </a:pPr>
            <a:r>
              <a:rPr sz="1050" b="0" dirty="0" err="1">
                <a:solidFill>
                  <a:srgbClr val="B3B3B3"/>
                </a:solidFill>
                <a:latin typeface="Arial"/>
              </a:rPr>
              <a:t>buy_url</a:t>
            </a:r>
            <a:r>
              <a:rPr sz="1050" b="0" dirty="0">
                <a:solidFill>
                  <a:srgbClr val="B3B3B3"/>
                </a:solidFill>
                <a:latin typeface="Arial"/>
              </a:rPr>
              <a:t>?</a:t>
            </a:r>
          </a:p>
          <a:p>
            <a:pPr algn="l">
              <a:spcAft>
                <a:spcPts val="200"/>
              </a:spcAft>
            </a:pPr>
            <a:r>
              <a:rPr sz="1050" b="0" dirty="0" err="1">
                <a:solidFill>
                  <a:srgbClr val="B3B3B3"/>
                </a:solidFill>
                <a:latin typeface="Arial"/>
              </a:rPr>
              <a:t>scraped_at</a:t>
            </a:r>
            <a:endParaRPr sz="1050" b="0" dirty="0">
              <a:solidFill>
                <a:srgbClr val="B3B3B3"/>
              </a:solidFill>
              <a:latin typeface="Arial"/>
            </a:endParaRPr>
          </a:p>
          <a:p>
            <a:pPr algn="l">
              <a:spcAft>
                <a:spcPts val="200"/>
              </a:spcAft>
            </a:pPr>
            <a:r>
              <a:rPr sz="1050" b="0" dirty="0">
                <a:solidFill>
                  <a:srgbClr val="2ECC71"/>
                </a:solidFill>
                <a:latin typeface="Arial"/>
              </a:rPr>
              <a:t>UNIQUE(</a:t>
            </a:r>
            <a:r>
              <a:rPr sz="1050" b="0" dirty="0" err="1">
                <a:solidFill>
                  <a:srgbClr val="2ECC71"/>
                </a:solidFill>
                <a:latin typeface="Arial"/>
              </a:rPr>
              <a:t>film,cinema,date</a:t>
            </a:r>
            <a:r>
              <a:rPr sz="1050" b="0" dirty="0">
                <a:solidFill>
                  <a:srgbClr val="2ECC71"/>
                </a:solidFill>
                <a:latin typeface="Arial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49056" y="1785574"/>
            <a:ext cx="3297862" cy="2479924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09728" rtlCol="0" anchor="t"/>
          <a:lstStyle/>
          <a:p>
            <a:pPr algn="l">
              <a:spcAft>
                <a:spcPts val="600"/>
              </a:spcAft>
            </a:pPr>
            <a:r>
              <a:rPr sz="1500" b="1" i="0" dirty="0">
                <a:solidFill>
                  <a:srgbClr val="E50914"/>
                </a:solidFill>
                <a:latin typeface="Arial"/>
              </a:rPr>
              <a:t>films</a:t>
            </a:r>
          </a:p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FFFFFF"/>
                </a:solidFill>
                <a:latin typeface="Arial"/>
              </a:rPr>
              <a:t>id : int</a:t>
            </a:r>
            <a:r>
              <a:rPr sz="1050" b="1" dirty="0">
                <a:solidFill>
                  <a:srgbClr val="E50914"/>
                </a:solidFill>
                <a:latin typeface="Arial"/>
              </a:rPr>
              <a:t>   PK</a:t>
            </a:r>
          </a:p>
          <a:p>
            <a:pPr algn="l">
              <a:spcAft>
                <a:spcPts val="200"/>
              </a:spcAft>
            </a:pPr>
            <a:r>
              <a:rPr sz="1050" b="0" dirty="0">
                <a:solidFill>
                  <a:srgbClr val="B3B3B3"/>
                </a:solidFill>
                <a:latin typeface="Arial"/>
              </a:rPr>
              <a:t>title</a:t>
            </a:r>
          </a:p>
          <a:p>
            <a:pPr algn="l">
              <a:spcAft>
                <a:spcPts val="200"/>
              </a:spcAft>
            </a:pPr>
            <a:r>
              <a:rPr sz="1050" b="0" dirty="0" err="1">
                <a:solidFill>
                  <a:srgbClr val="B3B3B3"/>
                </a:solidFill>
                <a:latin typeface="Arial"/>
              </a:rPr>
              <a:t>title_normalized</a:t>
            </a:r>
            <a:endParaRPr sz="1050" b="0" dirty="0">
              <a:solidFill>
                <a:srgbClr val="B3B3B3"/>
              </a:solidFill>
              <a:latin typeface="Arial"/>
            </a:endParaRPr>
          </a:p>
          <a:p>
            <a:pPr algn="l">
              <a:spcAft>
                <a:spcPts val="200"/>
              </a:spcAft>
            </a:pPr>
            <a:r>
              <a:rPr sz="1050" b="0" dirty="0" err="1">
                <a:solidFill>
                  <a:srgbClr val="B3B3B3"/>
                </a:solidFill>
                <a:latin typeface="Arial"/>
              </a:rPr>
              <a:t>original_title</a:t>
            </a:r>
            <a:r>
              <a:rPr sz="1050" b="0" dirty="0">
                <a:solidFill>
                  <a:srgbClr val="B3B3B3"/>
                </a:solidFill>
                <a:latin typeface="Arial"/>
              </a:rPr>
              <a:t>?</a:t>
            </a:r>
          </a:p>
          <a:p>
            <a:pPr algn="l">
              <a:spcAft>
                <a:spcPts val="200"/>
              </a:spcAft>
            </a:pPr>
            <a:r>
              <a:rPr sz="1050" b="0" dirty="0">
                <a:solidFill>
                  <a:srgbClr val="B3B3B3"/>
                </a:solidFill>
                <a:latin typeface="Arial"/>
              </a:rPr>
              <a:t>year?, runtime?</a:t>
            </a:r>
          </a:p>
          <a:p>
            <a:pPr algn="l">
              <a:spcAft>
                <a:spcPts val="200"/>
              </a:spcAft>
            </a:pPr>
            <a:r>
              <a:rPr sz="1050" b="0" dirty="0">
                <a:solidFill>
                  <a:srgbClr val="B3B3B3"/>
                </a:solidFill>
                <a:latin typeface="Arial"/>
              </a:rPr>
              <a:t>genres?, director?</a:t>
            </a:r>
          </a:p>
          <a:p>
            <a:pPr algn="l">
              <a:spcAft>
                <a:spcPts val="200"/>
              </a:spcAft>
            </a:pPr>
            <a:r>
              <a:rPr sz="1050" b="0" dirty="0" err="1">
                <a:solidFill>
                  <a:srgbClr val="B3B3B3"/>
                </a:solidFill>
                <a:latin typeface="Arial"/>
              </a:rPr>
              <a:t>poster_url</a:t>
            </a:r>
            <a:r>
              <a:rPr sz="1050" b="0" dirty="0">
                <a:solidFill>
                  <a:srgbClr val="B3B3B3"/>
                </a:solidFill>
                <a:latin typeface="Arial"/>
              </a:rPr>
              <a:t>?, synopsis?</a:t>
            </a:r>
          </a:p>
          <a:p>
            <a:pPr algn="l">
              <a:spcAft>
                <a:spcPts val="200"/>
              </a:spcAft>
            </a:pPr>
            <a:r>
              <a:rPr sz="1050" b="0" dirty="0" err="1">
                <a:solidFill>
                  <a:srgbClr val="FFFFFF"/>
                </a:solidFill>
                <a:latin typeface="Arial"/>
              </a:rPr>
              <a:t>wikidata_id</a:t>
            </a:r>
            <a:r>
              <a:rPr sz="1050" b="0" dirty="0">
                <a:solidFill>
                  <a:srgbClr val="FFFFFF"/>
                </a:solidFill>
                <a:latin typeface="Arial"/>
              </a:rPr>
              <a:t>?</a:t>
            </a:r>
            <a:r>
              <a:rPr sz="1050" b="1" dirty="0">
                <a:solidFill>
                  <a:srgbClr val="FFA500"/>
                </a:solidFill>
                <a:latin typeface="Arial"/>
              </a:rPr>
              <a:t>   UNIQUE</a:t>
            </a:r>
          </a:p>
          <a:p>
            <a:pPr algn="l">
              <a:spcAft>
                <a:spcPts val="200"/>
              </a:spcAft>
            </a:pPr>
            <a:r>
              <a:rPr sz="1050" b="0" dirty="0">
                <a:solidFill>
                  <a:srgbClr val="2ECC71"/>
                </a:solidFill>
                <a:latin typeface="Arial"/>
              </a:rPr>
              <a:t>UNIQUE(</a:t>
            </a:r>
            <a:r>
              <a:rPr sz="1050" b="0" dirty="0" err="1">
                <a:solidFill>
                  <a:srgbClr val="2ECC71"/>
                </a:solidFill>
                <a:latin typeface="Arial"/>
              </a:rPr>
              <a:t>title_norm</a:t>
            </a:r>
            <a:r>
              <a:rPr sz="1050" b="0" dirty="0">
                <a:solidFill>
                  <a:srgbClr val="2ECC71"/>
                </a:solidFill>
                <a:latin typeface="Arial"/>
              </a:rPr>
              <a:t>, year)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08080"/>
                </a:solidFill>
                <a:latin typeface="Arial"/>
              </a:rPr>
              <a:t>Legenda:   </a:t>
            </a:r>
            <a:r>
              <a:rPr sz="1200" b="1">
                <a:solidFill>
                  <a:srgbClr val="E50914"/>
                </a:solidFill>
                <a:latin typeface="Arial"/>
              </a:rPr>
              <a:t>PK</a:t>
            </a:r>
            <a:r>
              <a:rPr sz="1200" b="0">
                <a:solidFill>
                  <a:srgbClr val="B3B3B3"/>
                </a:solidFill>
                <a:latin typeface="Arial"/>
              </a:rPr>
              <a:t> chiave primaria      </a:t>
            </a:r>
            <a:r>
              <a:rPr sz="1200" b="1">
                <a:solidFill>
                  <a:srgbClr val="1E90FF"/>
                </a:solidFill>
                <a:latin typeface="Arial"/>
              </a:rPr>
              <a:t>FK →</a:t>
            </a:r>
            <a:r>
              <a:rPr sz="1200" b="0">
                <a:solidFill>
                  <a:srgbClr val="B3B3B3"/>
                </a:solidFill>
                <a:latin typeface="Arial"/>
              </a:rPr>
              <a:t> chiave esterna      </a:t>
            </a:r>
            <a:r>
              <a:rPr sz="1200" b="1">
                <a:solidFill>
                  <a:srgbClr val="FFA500"/>
                </a:solidFill>
                <a:latin typeface="Arial"/>
              </a:rPr>
              <a:t>UNIQUE</a:t>
            </a:r>
            <a:r>
              <a:rPr sz="1200" b="0">
                <a:solidFill>
                  <a:srgbClr val="B3B3B3"/>
                </a:solidFill>
                <a:latin typeface="Arial"/>
              </a:rPr>
              <a:t> vincolo di unicità      </a:t>
            </a:r>
            <a:r>
              <a:rPr sz="1200" b="0">
                <a:solidFill>
                  <a:srgbClr val="808080"/>
                </a:solidFill>
                <a:latin typeface="Arial"/>
              </a:rPr>
              <a:t>? = campo opzionale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663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dirty="0">
                <a:solidFill>
                  <a:srgbClr val="FFA500"/>
                </a:solidFill>
                <a:latin typeface="Arial"/>
              </a:rPr>
              <a:t>I due </a:t>
            </a:r>
            <a:r>
              <a:rPr sz="1250" b="1" dirty="0" err="1">
                <a:solidFill>
                  <a:srgbClr val="FFA500"/>
                </a:solidFill>
                <a:latin typeface="Arial"/>
              </a:rPr>
              <a:t>vincoli</a:t>
            </a:r>
            <a:r>
              <a:rPr sz="1250" b="1" dirty="0">
                <a:solidFill>
                  <a:srgbClr val="FFA500"/>
                </a:solidFill>
                <a:latin typeface="Arial"/>
              </a:rPr>
              <a:t> UNIQUE</a:t>
            </a:r>
            <a:r>
              <a:rPr sz="125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B3B3B3"/>
                </a:solidFill>
                <a:latin typeface="Arial"/>
              </a:rPr>
              <a:t>rendono</a:t>
            </a:r>
            <a:r>
              <a:rPr sz="1250" b="0" dirty="0">
                <a:solidFill>
                  <a:srgbClr val="B3B3B3"/>
                </a:solidFill>
                <a:latin typeface="Arial"/>
              </a:rPr>
              <a:t> il re-import notturno </a:t>
            </a:r>
            <a:r>
              <a:rPr sz="1250" b="0" dirty="0" err="1">
                <a:solidFill>
                  <a:srgbClr val="B3B3B3"/>
                </a:solidFill>
                <a:latin typeface="Arial"/>
              </a:rPr>
              <a:t>idempotente</a:t>
            </a:r>
            <a:r>
              <a:rPr sz="1250" b="0" dirty="0">
                <a:solidFill>
                  <a:srgbClr val="B3B3B3"/>
                </a:solidFill>
                <a:latin typeface="Arial"/>
              </a:rPr>
              <a:t>. </a:t>
            </a:r>
            <a:r>
              <a:rPr sz="1250" b="1" dirty="0">
                <a:solidFill>
                  <a:srgbClr val="1E90FF"/>
                </a:solidFill>
                <a:latin typeface="Arial"/>
              </a:rPr>
              <a:t>FK con ON DELETE CASCADE</a:t>
            </a:r>
            <a:r>
              <a:rPr sz="1250" b="0" dirty="0">
                <a:solidFill>
                  <a:srgbClr val="B3B3B3"/>
                </a:solidFill>
                <a:latin typeface="Arial"/>
              </a:rPr>
              <a:t>: </a:t>
            </a:r>
            <a:r>
              <a:rPr sz="1250" b="0" dirty="0" err="1">
                <a:solidFill>
                  <a:srgbClr val="B3B3B3"/>
                </a:solidFill>
                <a:latin typeface="Arial"/>
              </a:rPr>
              <a:t>rimosso</a:t>
            </a:r>
            <a:r>
              <a:rPr sz="1250" b="0" dirty="0">
                <a:solidFill>
                  <a:srgbClr val="B3B3B3"/>
                </a:solidFill>
                <a:latin typeface="Arial"/>
              </a:rPr>
              <a:t> un film o un cinema, </a:t>
            </a:r>
            <a:r>
              <a:rPr sz="1250" b="0" dirty="0" err="1">
                <a:solidFill>
                  <a:srgbClr val="B3B3B3"/>
                </a:solidFill>
                <a:latin typeface="Arial"/>
              </a:rPr>
              <a:t>spariscono</a:t>
            </a:r>
            <a:r>
              <a:rPr sz="125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B3B3B3"/>
                </a:solidFill>
                <a:latin typeface="Arial"/>
              </a:rPr>
              <a:t>i</a:t>
            </a:r>
            <a:r>
              <a:rPr sz="125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B3B3B3"/>
                </a:solidFill>
                <a:latin typeface="Arial"/>
              </a:rPr>
              <a:t>suoi</a:t>
            </a:r>
            <a:r>
              <a:rPr sz="125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B3B3B3"/>
                </a:solidFill>
                <a:latin typeface="Arial"/>
              </a:rPr>
              <a:t>spettacoli</a:t>
            </a:r>
            <a:r>
              <a:rPr sz="1250" b="0" dirty="0">
                <a:solidFill>
                  <a:srgbClr val="B3B3B3"/>
                </a:solidFill>
                <a:latin typeface="Arial"/>
              </a:rPr>
              <a:t>. </a:t>
            </a:r>
            <a:r>
              <a:rPr sz="1250" b="0" dirty="0" err="1">
                <a:solidFill>
                  <a:srgbClr val="B3B3B3"/>
                </a:solidFill>
                <a:latin typeface="Arial"/>
              </a:rPr>
              <a:t>Indici</a:t>
            </a:r>
            <a:r>
              <a:rPr sz="1250" b="0" dirty="0">
                <a:solidFill>
                  <a:srgbClr val="B3B3B3"/>
                </a:solidFill>
                <a:latin typeface="Arial"/>
              </a:rPr>
              <a:t> </a:t>
            </a:r>
            <a:r>
              <a:rPr sz="1250" b="0" dirty="0" err="1">
                <a:solidFill>
                  <a:srgbClr val="B3B3B3"/>
                </a:solidFill>
                <a:latin typeface="Arial"/>
              </a:rPr>
              <a:t>su</a:t>
            </a:r>
            <a:r>
              <a:rPr sz="1250" b="0" dirty="0">
                <a:solidFill>
                  <a:srgbClr val="B3B3B3"/>
                </a:solidFill>
                <a:latin typeface="Arial"/>
              </a:rPr>
              <a:t> date, </a:t>
            </a:r>
            <a:r>
              <a:rPr sz="1250" b="0" dirty="0" err="1">
                <a:solidFill>
                  <a:srgbClr val="B3B3B3"/>
                </a:solidFill>
                <a:latin typeface="Arial"/>
              </a:rPr>
              <a:t>film_id</a:t>
            </a:r>
            <a:r>
              <a:rPr sz="1250" b="0" dirty="0">
                <a:solidFill>
                  <a:srgbClr val="B3B3B3"/>
                </a:solidFill>
                <a:latin typeface="Arial"/>
              </a:rPr>
              <a:t>, </a:t>
            </a:r>
            <a:r>
              <a:rPr sz="1250" b="0" dirty="0" err="1">
                <a:solidFill>
                  <a:srgbClr val="B3B3B3"/>
                </a:solidFill>
                <a:latin typeface="Arial"/>
              </a:rPr>
              <a:t>cinema_slug</a:t>
            </a:r>
            <a:r>
              <a:rPr sz="1250" b="0" dirty="0">
                <a:solidFill>
                  <a:srgbClr val="B3B3B3"/>
                </a:solidFill>
                <a:latin typeface="Arial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11</a:t>
            </a:r>
          </a:p>
        </p:txBody>
      </p:sp>
      <p:cxnSp>
        <p:nvCxnSpPr>
          <p:cNvPr id="69" name="Connector 13">
            <a:extLst>
              <a:ext uri="{FF2B5EF4-FFF2-40B4-BE49-F238E27FC236}">
                <a16:creationId xmlns:a16="http://schemas.microsoft.com/office/drawing/2014/main" id="{807198D9-1050-6FC6-1396-1826EC76004F}"/>
              </a:ext>
            </a:extLst>
          </p:cNvPr>
          <p:cNvCxnSpPr>
            <a:cxnSpLocks/>
          </p:cNvCxnSpPr>
          <p:nvPr/>
        </p:nvCxnSpPr>
        <p:spPr>
          <a:xfrm>
            <a:off x="7863839" y="2971741"/>
            <a:ext cx="585217" cy="0"/>
          </a:xfrm>
          <a:prstGeom prst="line">
            <a:avLst/>
          </a:prstGeom>
          <a:ln w="28575">
            <a:solidFill>
              <a:srgbClr val="9C9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13">
            <a:extLst>
              <a:ext uri="{FF2B5EF4-FFF2-40B4-BE49-F238E27FC236}">
                <a16:creationId xmlns:a16="http://schemas.microsoft.com/office/drawing/2014/main" id="{11F67FAC-D65E-3CF2-7754-AA5BBF9D6A01}"/>
              </a:ext>
            </a:extLst>
          </p:cNvPr>
          <p:cNvCxnSpPr>
            <a:cxnSpLocks/>
          </p:cNvCxnSpPr>
          <p:nvPr/>
        </p:nvCxnSpPr>
        <p:spPr>
          <a:xfrm>
            <a:off x="4030601" y="2948921"/>
            <a:ext cx="585217" cy="0"/>
          </a:xfrm>
          <a:prstGeom prst="line">
            <a:avLst/>
          </a:prstGeom>
          <a:ln w="28575">
            <a:solidFill>
              <a:srgbClr val="9C9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14">
            <a:extLst>
              <a:ext uri="{FF2B5EF4-FFF2-40B4-BE49-F238E27FC236}">
                <a16:creationId xmlns:a16="http://schemas.microsoft.com/office/drawing/2014/main" id="{52212DBA-CE36-4643-EBBC-0D09CA88709E}"/>
              </a:ext>
            </a:extLst>
          </p:cNvPr>
          <p:cNvSpPr txBox="1"/>
          <p:nvPr/>
        </p:nvSpPr>
        <p:spPr>
          <a:xfrm>
            <a:off x="4003757" y="2555729"/>
            <a:ext cx="2011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 u="none" dirty="0">
                <a:solidFill>
                  <a:srgbClr val="ECECF0"/>
                </a:solidFill>
                <a:latin typeface="Arial"/>
              </a:rPr>
              <a:t>1</a:t>
            </a:r>
          </a:p>
        </p:txBody>
      </p:sp>
      <p:sp>
        <p:nvSpPr>
          <p:cNvPr id="73" name="TextBox 14">
            <a:extLst>
              <a:ext uri="{FF2B5EF4-FFF2-40B4-BE49-F238E27FC236}">
                <a16:creationId xmlns:a16="http://schemas.microsoft.com/office/drawing/2014/main" id="{B26045D6-9296-27A3-119E-0F955E48AA36}"/>
              </a:ext>
            </a:extLst>
          </p:cNvPr>
          <p:cNvSpPr txBox="1"/>
          <p:nvPr/>
        </p:nvSpPr>
        <p:spPr>
          <a:xfrm>
            <a:off x="8247888" y="2555729"/>
            <a:ext cx="2011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 u="none" dirty="0">
                <a:solidFill>
                  <a:srgbClr val="ECECF0"/>
                </a:solidFill>
                <a:latin typeface="Arial"/>
              </a:rPr>
              <a:t>1</a:t>
            </a:r>
          </a:p>
        </p:txBody>
      </p:sp>
      <p:sp>
        <p:nvSpPr>
          <p:cNvPr id="75" name="TextBox 15">
            <a:extLst>
              <a:ext uri="{FF2B5EF4-FFF2-40B4-BE49-F238E27FC236}">
                <a16:creationId xmlns:a16="http://schemas.microsoft.com/office/drawing/2014/main" id="{BD8C8E64-861A-8956-0191-6C4A380070D3}"/>
              </a:ext>
            </a:extLst>
          </p:cNvPr>
          <p:cNvSpPr txBox="1"/>
          <p:nvPr/>
        </p:nvSpPr>
        <p:spPr>
          <a:xfrm>
            <a:off x="4396949" y="2555729"/>
            <a:ext cx="2011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 u="none" dirty="0">
                <a:solidFill>
                  <a:srgbClr val="ECECF0"/>
                </a:solidFill>
                <a:latin typeface="Arial"/>
              </a:rPr>
              <a:t>N</a:t>
            </a:r>
          </a:p>
        </p:txBody>
      </p:sp>
      <p:sp>
        <p:nvSpPr>
          <p:cNvPr id="76" name="TextBox 15">
            <a:extLst>
              <a:ext uri="{FF2B5EF4-FFF2-40B4-BE49-F238E27FC236}">
                <a16:creationId xmlns:a16="http://schemas.microsoft.com/office/drawing/2014/main" id="{3D3B7BA4-5B61-2099-AA8B-F211C9F519B0}"/>
              </a:ext>
            </a:extLst>
          </p:cNvPr>
          <p:cNvSpPr txBox="1"/>
          <p:nvPr/>
        </p:nvSpPr>
        <p:spPr>
          <a:xfrm>
            <a:off x="7895480" y="2555729"/>
            <a:ext cx="20116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 u="none" dirty="0">
                <a:solidFill>
                  <a:srgbClr val="ECECF0"/>
                </a:solidFill>
                <a:latin typeface="Arial"/>
              </a:rPr>
              <a:t>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 dirty="0">
                <a:solidFill>
                  <a:srgbClr val="E50914"/>
                </a:solidFill>
                <a:latin typeface="Arial"/>
              </a:rPr>
              <a:t>COMPONENTE 3 DI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 dirty="0">
                <a:solidFill>
                  <a:srgbClr val="FFFFFF"/>
                </a:solidFill>
                <a:latin typeface="Arial"/>
              </a:rPr>
              <a:t>Frontend</a:t>
            </a:r>
            <a:r>
              <a:rPr lang="it-IT" sz="2800" b="1" i="0" dirty="0">
                <a:solidFill>
                  <a:srgbClr val="FFFFFF"/>
                </a:solidFill>
                <a:latin typeface="Arial"/>
              </a:rPr>
              <a:t>: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una</a:t>
            </a:r>
            <a:r>
              <a:rPr sz="2800" b="1" i="0" dirty="0">
                <a:solidFill>
                  <a:srgbClr val="FFFFFF"/>
                </a:solidFill>
                <a:latin typeface="Arial"/>
              </a:rPr>
              <a:t> sola codebase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5120640" cy="324612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 dirty="0">
                <a:solidFill>
                  <a:srgbClr val="E50914"/>
                </a:solidFill>
                <a:latin typeface="Arial"/>
              </a:rPr>
              <a:t>Stack</a:t>
            </a:r>
          </a:p>
          <a:p>
            <a:pPr algn="l">
              <a:spcAft>
                <a:spcPts val="900"/>
              </a:spcAft>
            </a:pPr>
            <a:r>
              <a:rPr sz="1350" b="1" dirty="0">
                <a:solidFill>
                  <a:srgbClr val="E50914"/>
                </a:solidFill>
                <a:latin typeface="Arial"/>
              </a:rPr>
              <a:t>React Native  —  </a:t>
            </a:r>
            <a:r>
              <a:rPr sz="1350" b="0" dirty="0">
                <a:solidFill>
                  <a:srgbClr val="FFFFFF"/>
                </a:solidFill>
                <a:latin typeface="Arial"/>
              </a:rPr>
              <a:t>0.81 · React 19</a:t>
            </a:r>
          </a:p>
          <a:p>
            <a:pPr algn="l">
              <a:spcAft>
                <a:spcPts val="900"/>
              </a:spcAft>
            </a:pPr>
            <a:r>
              <a:rPr sz="1350" b="1" dirty="0">
                <a:solidFill>
                  <a:srgbClr val="E50914"/>
                </a:solidFill>
                <a:latin typeface="Arial"/>
              </a:rPr>
              <a:t>Expo  —  </a:t>
            </a:r>
            <a:r>
              <a:rPr sz="1350" b="0" dirty="0">
                <a:solidFill>
                  <a:srgbClr val="FFFFFF"/>
                </a:solidFill>
                <a:latin typeface="Arial"/>
              </a:rPr>
              <a:t>SDK 54 (max per Expo Go)</a:t>
            </a:r>
          </a:p>
          <a:p>
            <a:pPr algn="l">
              <a:spcAft>
                <a:spcPts val="900"/>
              </a:spcAft>
            </a:pPr>
            <a:r>
              <a:rPr sz="1350" b="1" dirty="0">
                <a:solidFill>
                  <a:srgbClr val="E50914"/>
                </a:solidFill>
                <a:latin typeface="Arial"/>
              </a:rPr>
              <a:t>Navigazione  —  </a:t>
            </a:r>
            <a:r>
              <a:rPr sz="1350" b="0" dirty="0">
                <a:solidFill>
                  <a:srgbClr val="FFFFFF"/>
                </a:solidFill>
                <a:latin typeface="Arial"/>
              </a:rPr>
              <a:t>React Navigation 7 (tab + stack)</a:t>
            </a:r>
          </a:p>
          <a:p>
            <a:pPr algn="l">
              <a:spcAft>
                <a:spcPts val="900"/>
              </a:spcAft>
            </a:pPr>
            <a:r>
              <a:rPr sz="1350" b="1" dirty="0">
                <a:solidFill>
                  <a:srgbClr val="E50914"/>
                </a:solidFill>
                <a:latin typeface="Arial"/>
              </a:rPr>
              <a:t>Web  —  </a:t>
            </a:r>
            <a:r>
              <a:rPr sz="1350" b="0" dirty="0">
                <a:solidFill>
                  <a:srgbClr val="FFFFFF"/>
                </a:solidFill>
                <a:latin typeface="Arial"/>
              </a:rPr>
              <a:t>react-native-we</a:t>
            </a:r>
            <a:r>
              <a:rPr lang="it-IT" sz="1350" b="0" dirty="0">
                <a:solidFill>
                  <a:srgbClr val="FFFFFF"/>
                </a:solidFill>
                <a:latin typeface="Arial"/>
              </a:rPr>
              <a:t>b,</a:t>
            </a:r>
            <a:r>
              <a:rPr sz="135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FFFFFF"/>
                </a:solidFill>
                <a:latin typeface="Arial"/>
              </a:rPr>
              <a:t>stesso</a:t>
            </a:r>
            <a:r>
              <a:rPr sz="135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FFFFFF"/>
                </a:solidFill>
                <a:latin typeface="Arial"/>
              </a:rPr>
              <a:t>codice</a:t>
            </a:r>
            <a:r>
              <a:rPr sz="1350" b="0" dirty="0">
                <a:solidFill>
                  <a:srgbClr val="FFFFFF"/>
                </a:solidFill>
                <a:latin typeface="Arial"/>
              </a:rPr>
              <a:t> </a:t>
            </a:r>
            <a:r>
              <a:rPr sz="1350" b="0" dirty="0" err="1">
                <a:solidFill>
                  <a:srgbClr val="FFFFFF"/>
                </a:solidFill>
                <a:latin typeface="Arial"/>
              </a:rPr>
              <a:t>nel</a:t>
            </a:r>
            <a:r>
              <a:rPr sz="1350" b="0" dirty="0">
                <a:solidFill>
                  <a:srgbClr val="FFFFFF"/>
                </a:solidFill>
                <a:latin typeface="Arial"/>
              </a:rPr>
              <a:t> browser</a:t>
            </a:r>
          </a:p>
          <a:p>
            <a:pPr algn="l">
              <a:spcAft>
                <a:spcPts val="900"/>
              </a:spcAft>
            </a:pPr>
            <a:r>
              <a:rPr sz="1350" b="1" dirty="0" err="1">
                <a:solidFill>
                  <a:srgbClr val="E50914"/>
                </a:solidFill>
                <a:latin typeface="Arial"/>
              </a:rPr>
              <a:t>Mappa</a:t>
            </a:r>
            <a:r>
              <a:rPr sz="1350" b="1" dirty="0">
                <a:solidFill>
                  <a:srgbClr val="E50914"/>
                </a:solidFill>
                <a:latin typeface="Arial"/>
              </a:rPr>
              <a:t>  —  </a:t>
            </a:r>
            <a:r>
              <a:rPr sz="1350" b="0" dirty="0">
                <a:solidFill>
                  <a:srgbClr val="FFFFFF"/>
                </a:solidFill>
                <a:latin typeface="Arial"/>
              </a:rPr>
              <a:t>Leaflet in WebView (</a:t>
            </a:r>
            <a:r>
              <a:rPr sz="1350" b="0" dirty="0" err="1">
                <a:solidFill>
                  <a:srgbClr val="FFFFFF"/>
                </a:solidFill>
                <a:latin typeface="Arial"/>
              </a:rPr>
              <a:t>nativo</a:t>
            </a:r>
            <a:r>
              <a:rPr sz="1350" b="0" dirty="0">
                <a:solidFill>
                  <a:srgbClr val="FFFFFF"/>
                </a:solidFill>
                <a:latin typeface="Arial"/>
              </a:rPr>
              <a:t>) / </a:t>
            </a:r>
            <a:r>
              <a:rPr sz="1350" b="0" dirty="0" err="1">
                <a:solidFill>
                  <a:srgbClr val="FFFFFF"/>
                </a:solidFill>
                <a:latin typeface="Arial"/>
              </a:rPr>
              <a:t>iframe</a:t>
            </a:r>
            <a:r>
              <a:rPr sz="1350" b="0" dirty="0">
                <a:solidFill>
                  <a:srgbClr val="FFFFFF"/>
                </a:solidFill>
                <a:latin typeface="Arial"/>
              </a:rPr>
              <a:t> (web)</a:t>
            </a:r>
          </a:p>
          <a:p>
            <a:pPr algn="l">
              <a:spcAft>
                <a:spcPts val="900"/>
              </a:spcAft>
            </a:pPr>
            <a:r>
              <a:rPr sz="1350" b="1">
                <a:solidFill>
                  <a:srgbClr val="E50914"/>
                </a:solidFill>
                <a:latin typeface="Arial"/>
              </a:rPr>
              <a:t>Linguaggio</a:t>
            </a:r>
            <a:r>
              <a:rPr sz="1350" b="1" dirty="0">
                <a:solidFill>
                  <a:srgbClr val="E50914"/>
                </a:solidFill>
                <a:latin typeface="Arial"/>
              </a:rPr>
              <a:t>  —  </a:t>
            </a:r>
            <a:r>
              <a:rPr sz="1350" b="0" dirty="0">
                <a:solidFill>
                  <a:srgbClr val="FFFFFF"/>
                </a:solidFill>
                <a:latin typeface="Arial"/>
              </a:rPr>
              <a:t>JavaScript (.</a:t>
            </a:r>
            <a:r>
              <a:rPr sz="1350" b="0" dirty="0" err="1">
                <a:solidFill>
                  <a:srgbClr val="FFFFFF"/>
                </a:solidFill>
                <a:latin typeface="Arial"/>
              </a:rPr>
              <a:t>js</a:t>
            </a:r>
            <a:r>
              <a:rPr sz="1350" b="0" dirty="0">
                <a:solidFill>
                  <a:srgbClr val="FFFFFF"/>
                </a:solidFill>
                <a:latin typeface="Arial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737360"/>
            <a:ext cx="5577840" cy="324612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 dirty="0">
                <a:solidFill>
                  <a:srgbClr val="E50914"/>
                </a:solidFill>
                <a:latin typeface="Arial"/>
              </a:rPr>
              <a:t>Navigazione (</a:t>
            </a:r>
            <a:r>
              <a:rPr sz="1400" b="1" i="0" dirty="0" err="1">
                <a:solidFill>
                  <a:srgbClr val="E50914"/>
                </a:solidFill>
                <a:latin typeface="Arial"/>
              </a:rPr>
              <a:t>App.js</a:t>
            </a:r>
            <a:r>
              <a:rPr sz="1400" b="1" i="0" dirty="0">
                <a:solidFill>
                  <a:srgbClr val="E50914"/>
                </a:solidFill>
                <a:latin typeface="Arial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1300" b="0" i="0" dirty="0" err="1">
                <a:solidFill>
                  <a:srgbClr val="B3B3B3"/>
                </a:solidFill>
                <a:latin typeface="Arial"/>
              </a:rPr>
              <a:t>All'avvio</a:t>
            </a:r>
            <a:r>
              <a:rPr sz="1300" b="0" i="0" dirty="0">
                <a:solidFill>
                  <a:srgbClr val="B3B3B3"/>
                </a:solidFill>
                <a:latin typeface="Arial"/>
              </a:rPr>
              <a:t> uno </a:t>
            </a:r>
            <a:r>
              <a:rPr sz="1300" b="0" i="0" dirty="0" err="1">
                <a:solidFill>
                  <a:srgbClr val="B3B3B3"/>
                </a:solidFill>
                <a:latin typeface="Arial"/>
              </a:rPr>
              <a:t>SplashScreen</a:t>
            </a:r>
            <a:r>
              <a:rPr sz="1300" b="0" i="0" dirty="0">
                <a:solidFill>
                  <a:srgbClr val="B3B3B3"/>
                </a:solidFill>
                <a:latin typeface="Arial"/>
              </a:rPr>
              <a:t> animato, poi:</a:t>
            </a:r>
          </a:p>
          <a:p>
            <a:pPr algn="l">
              <a:spcAft>
                <a:spcPts val="600"/>
              </a:spcAft>
            </a:pPr>
            <a:r>
              <a:rPr sz="1350" b="1" dirty="0" err="1">
                <a:solidFill>
                  <a:srgbClr val="FFFFFF"/>
                </a:solidFill>
                <a:latin typeface="Arial"/>
              </a:rPr>
              <a:t>SplashScreen</a:t>
            </a:r>
            <a:r>
              <a:rPr lang="it-IT" sz="1350" b="1" dirty="0">
                <a:solidFill>
                  <a:srgbClr val="FFFFFF"/>
                </a:solidFill>
                <a:latin typeface="Arial"/>
              </a:rPr>
              <a:t>, </a:t>
            </a:r>
            <a:endParaRPr sz="135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350" b="0" dirty="0">
                <a:solidFill>
                  <a:srgbClr val="808080"/>
                </a:solidFill>
                <a:latin typeface="Arial"/>
              </a:rPr>
              <a:t>   └ </a:t>
            </a:r>
            <a:r>
              <a:rPr sz="1350" b="1" dirty="0" err="1">
                <a:solidFill>
                  <a:srgbClr val="B3B3B3"/>
                </a:solidFill>
                <a:latin typeface="Arial"/>
              </a:rPr>
              <a:t>NavigationContainer</a:t>
            </a:r>
            <a:endParaRPr sz="1350" b="1" dirty="0">
              <a:solidFill>
                <a:srgbClr val="B3B3B3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350" b="0" dirty="0">
                <a:solidFill>
                  <a:srgbClr val="808080"/>
                </a:solidFill>
                <a:latin typeface="Arial"/>
              </a:rPr>
              <a:t>      └ </a:t>
            </a:r>
            <a:r>
              <a:rPr sz="1350" b="1" dirty="0">
                <a:solidFill>
                  <a:srgbClr val="FFFFFF"/>
                </a:solidFill>
                <a:latin typeface="Arial"/>
              </a:rPr>
              <a:t>Bottom Tabs</a:t>
            </a:r>
          </a:p>
          <a:p>
            <a:pPr algn="l">
              <a:spcAft>
                <a:spcPts val="600"/>
              </a:spcAft>
            </a:pPr>
            <a:r>
              <a:rPr sz="1350" b="0" dirty="0">
                <a:solidFill>
                  <a:srgbClr val="808080"/>
                </a:solidFill>
                <a:latin typeface="Arial"/>
              </a:rPr>
              <a:t>         └ </a:t>
            </a:r>
            <a:r>
              <a:rPr sz="1350" b="0" dirty="0">
                <a:solidFill>
                  <a:srgbClr val="B3B3B3"/>
                </a:solidFill>
                <a:latin typeface="Arial"/>
              </a:rPr>
              <a:t>Films  </a:t>
            </a:r>
            <a:r>
              <a:rPr lang="it-IT" sz="1350" b="0" dirty="0">
                <a:solidFill>
                  <a:srgbClr val="B3B3B3"/>
                </a:solidFill>
                <a:latin typeface="Arial"/>
              </a:rPr>
              <a:t>→ </a:t>
            </a:r>
            <a:r>
              <a:rPr lang="it-IT" sz="1350" b="0" dirty="0" err="1">
                <a:solidFill>
                  <a:srgbClr val="B3B3B3"/>
                </a:solidFill>
                <a:latin typeface="Arial"/>
              </a:rPr>
              <a:t>stack</a:t>
            </a:r>
            <a:r>
              <a:rPr lang="it-IT" sz="1350" b="0" dirty="0">
                <a:solidFill>
                  <a:srgbClr val="B3B3B3"/>
                </a:solidFill>
                <a:latin typeface="Arial"/>
              </a:rPr>
              <a:t> (lista → dettaglio)</a:t>
            </a:r>
          </a:p>
          <a:p>
            <a:pPr algn="l">
              <a:spcAft>
                <a:spcPts val="600"/>
              </a:spcAft>
            </a:pPr>
            <a:r>
              <a:rPr sz="1350" b="0" dirty="0">
                <a:solidFill>
                  <a:srgbClr val="808080"/>
                </a:solidFill>
                <a:latin typeface="Arial"/>
              </a:rPr>
              <a:t>         └ </a:t>
            </a:r>
            <a:r>
              <a:rPr sz="1350" b="0" dirty="0" err="1">
                <a:solidFill>
                  <a:srgbClr val="B3B3B3"/>
                </a:solidFill>
                <a:latin typeface="Arial"/>
              </a:rPr>
              <a:t>Cerca</a:t>
            </a:r>
            <a:r>
              <a:rPr sz="1350" b="0" dirty="0">
                <a:solidFill>
                  <a:srgbClr val="B3B3B3"/>
                </a:solidFill>
                <a:latin typeface="Arial"/>
              </a:rPr>
              <a:t>  → stack (</a:t>
            </a:r>
            <a:r>
              <a:rPr sz="1350" b="0" dirty="0" err="1">
                <a:solidFill>
                  <a:srgbClr val="B3B3B3"/>
                </a:solidFill>
                <a:latin typeface="Arial"/>
              </a:rPr>
              <a:t>lista</a:t>
            </a:r>
            <a:r>
              <a:rPr sz="1350" b="0" dirty="0">
                <a:solidFill>
                  <a:srgbClr val="B3B3B3"/>
                </a:solidFill>
                <a:latin typeface="Arial"/>
              </a:rPr>
              <a:t> → </a:t>
            </a:r>
            <a:r>
              <a:rPr sz="1350" b="0" dirty="0" err="1">
                <a:solidFill>
                  <a:srgbClr val="B3B3B3"/>
                </a:solidFill>
                <a:latin typeface="Arial"/>
              </a:rPr>
              <a:t>dettaglio</a:t>
            </a:r>
            <a:r>
              <a:rPr sz="1350" b="0" dirty="0">
                <a:solidFill>
                  <a:srgbClr val="B3B3B3"/>
                </a:solidFill>
                <a:latin typeface="Arial"/>
              </a:rPr>
              <a:t>)</a:t>
            </a:r>
          </a:p>
          <a:p>
            <a:pPr algn="l">
              <a:spcAft>
                <a:spcPts val="600"/>
              </a:spcAft>
            </a:pPr>
            <a:r>
              <a:rPr sz="1350" b="0" dirty="0">
                <a:solidFill>
                  <a:srgbClr val="808080"/>
                </a:solidFill>
                <a:latin typeface="Arial"/>
              </a:rPr>
              <a:t>         └ </a:t>
            </a:r>
            <a:r>
              <a:rPr sz="1350" b="0" dirty="0" err="1">
                <a:solidFill>
                  <a:srgbClr val="B3B3B3"/>
                </a:solidFill>
                <a:latin typeface="Arial"/>
              </a:rPr>
              <a:t>Località</a:t>
            </a:r>
            <a:r>
              <a:rPr sz="1350" b="0" dirty="0">
                <a:solidFill>
                  <a:srgbClr val="B3B3B3"/>
                </a:solidFill>
                <a:latin typeface="Arial"/>
              </a:rPr>
              <a:t> → </a:t>
            </a:r>
            <a:r>
              <a:rPr sz="1350" b="0" dirty="0" err="1">
                <a:solidFill>
                  <a:srgbClr val="B3B3B3"/>
                </a:solidFill>
                <a:latin typeface="Arial"/>
              </a:rPr>
              <a:t>mappa</a:t>
            </a:r>
            <a:endParaRPr sz="1350" b="0" dirty="0">
              <a:solidFill>
                <a:srgbClr val="B3B3B3"/>
              </a:solidFill>
              <a:latin typeface="Arial"/>
            </a:endParaRPr>
          </a:p>
          <a:p>
            <a:pPr algn="l">
              <a:spcAft>
                <a:spcPts val="0"/>
              </a:spcAft>
            </a:pPr>
            <a:r>
              <a:rPr sz="1200" b="0" i="0" dirty="0">
                <a:solidFill>
                  <a:srgbClr val="808080"/>
                </a:solidFill>
                <a:latin typeface="Arial"/>
              </a:rPr>
              <a:t>Films e </a:t>
            </a:r>
            <a:r>
              <a:rPr sz="1200" b="0" i="0" dirty="0" err="1">
                <a:solidFill>
                  <a:srgbClr val="808080"/>
                </a:solidFill>
                <a:latin typeface="Arial"/>
              </a:rPr>
              <a:t>Cerca</a:t>
            </a:r>
            <a:r>
              <a:rPr sz="1200" b="0" i="0" dirty="0">
                <a:solidFill>
                  <a:srgbClr val="808080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808080"/>
                </a:solidFill>
                <a:latin typeface="Arial"/>
              </a:rPr>
              <a:t>sono</a:t>
            </a:r>
            <a:r>
              <a:rPr sz="1200" b="0" i="0" dirty="0">
                <a:solidFill>
                  <a:srgbClr val="808080"/>
                </a:solidFill>
                <a:latin typeface="Arial"/>
              </a:rPr>
              <a:t> stack: il </a:t>
            </a:r>
            <a:r>
              <a:rPr sz="1200" b="0" i="0" dirty="0" err="1">
                <a:solidFill>
                  <a:srgbClr val="808080"/>
                </a:solidFill>
                <a:latin typeface="Arial"/>
              </a:rPr>
              <a:t>dettaglio</a:t>
            </a:r>
            <a:r>
              <a:rPr sz="1200" b="0" i="0" dirty="0">
                <a:solidFill>
                  <a:srgbClr val="808080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808080"/>
                </a:solidFill>
                <a:latin typeface="Arial"/>
              </a:rPr>
              <a:t>si</a:t>
            </a:r>
            <a:r>
              <a:rPr sz="1200" b="0" i="0" dirty="0">
                <a:solidFill>
                  <a:srgbClr val="808080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808080"/>
                </a:solidFill>
                <a:latin typeface="Arial"/>
              </a:rPr>
              <a:t>apre</a:t>
            </a:r>
            <a:r>
              <a:rPr sz="1200" b="0" i="0" dirty="0">
                <a:solidFill>
                  <a:srgbClr val="808080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808080"/>
                </a:solidFill>
                <a:latin typeface="Arial"/>
              </a:rPr>
              <a:t>dentro</a:t>
            </a:r>
            <a:r>
              <a:rPr sz="1200" b="0" i="0" dirty="0">
                <a:solidFill>
                  <a:srgbClr val="808080"/>
                </a:solidFill>
                <a:latin typeface="Arial"/>
              </a:rPr>
              <a:t> la tab, con la barra sempre </a:t>
            </a:r>
            <a:r>
              <a:rPr sz="1200" b="0" i="0" dirty="0" err="1">
                <a:solidFill>
                  <a:srgbClr val="808080"/>
                </a:solidFill>
                <a:latin typeface="Arial"/>
              </a:rPr>
              <a:t>visibile</a:t>
            </a:r>
            <a:r>
              <a:rPr sz="1200" b="0" i="0" dirty="0">
                <a:solidFill>
                  <a:srgbClr val="808080"/>
                </a:solidFill>
                <a:latin typeface="Arial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COMPONENTE 3 DI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 dirty="0">
                <a:solidFill>
                  <a:srgbClr val="FFFFFF"/>
                </a:solidFill>
                <a:latin typeface="Arial"/>
              </a:rPr>
              <a:t>Frontend</a:t>
            </a:r>
            <a:r>
              <a:rPr lang="it-IT" sz="2800" b="1" i="0" dirty="0">
                <a:solidFill>
                  <a:srgbClr val="FFFFFF"/>
                </a:solidFill>
                <a:latin typeface="Arial"/>
              </a:rPr>
              <a:t>: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schermate</a:t>
            </a:r>
            <a:r>
              <a:rPr sz="2800" b="1" i="0" dirty="0">
                <a:solidFill>
                  <a:srgbClr val="FFFFFF"/>
                </a:solidFill>
                <a:latin typeface="Arial"/>
              </a:rPr>
              <a:t> e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scelte</a:t>
            </a:r>
            <a:r>
              <a:rPr sz="28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tecniche</a:t>
            </a:r>
            <a:endParaRPr sz="28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3017520" cy="896112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E50914"/>
                </a:solidFill>
                <a:latin typeface="Arial"/>
              </a:rPr>
              <a:t>Films (Home)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1783080"/>
            <a:ext cx="7680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 dirty="0" err="1">
                <a:solidFill>
                  <a:srgbClr val="FFFFFF"/>
                </a:solidFill>
                <a:latin typeface="Arial"/>
              </a:rPr>
              <a:t>carosello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hero + barra 7 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giorni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+ 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griglia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locandine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; 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filtro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cinema e pull-to-refresh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15768"/>
            <a:ext cx="3017520" cy="896112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E50914"/>
                </a:solidFill>
                <a:latin typeface="Arial"/>
              </a:rPr>
              <a:t>Cerca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3026773"/>
            <a:ext cx="7680960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 dirty="0" err="1">
                <a:solidFill>
                  <a:srgbClr val="FFFFFF"/>
                </a:solidFill>
                <a:latin typeface="Arial"/>
              </a:rPr>
              <a:t>ricerca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per 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titolo</a:t>
            </a:r>
            <a:r>
              <a:rPr lang="it-IT" sz="1300" dirty="0">
                <a:solidFill>
                  <a:srgbClr val="FFFFFF"/>
                </a:solidFill>
                <a:latin typeface="Arial"/>
              </a:rPr>
              <a:t>; 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le 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risposte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obsolete 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vengono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annullate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(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requestId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94176"/>
            <a:ext cx="3017520" cy="896112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E50914"/>
                </a:solidFill>
                <a:latin typeface="Arial"/>
              </a:rPr>
              <a:t>Località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739896"/>
            <a:ext cx="7680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 dirty="0" err="1">
                <a:solidFill>
                  <a:srgbClr val="FFFFFF"/>
                </a:solidFill>
                <a:latin typeface="Arial"/>
              </a:rPr>
              <a:t>mappa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Leaflet con 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i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tre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cinema e 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gli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indirizzi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; il tap </a:t>
            </a:r>
            <a:r>
              <a:rPr sz="1300" b="0" i="0" dirty="0" err="1">
                <a:solidFill>
                  <a:srgbClr val="FFFFFF"/>
                </a:solidFill>
                <a:latin typeface="Arial"/>
              </a:rPr>
              <a:t>apre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in Google Maps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672584"/>
            <a:ext cx="3017520" cy="896112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E50914"/>
                </a:solidFill>
                <a:latin typeface="Arial"/>
              </a:rPr>
              <a:t>Dettaglio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718304"/>
            <a:ext cx="7680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poster, trama, trailer e orari raggruppati per cinema; si apre sulla data giusta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42432"/>
            <a:ext cx="1090879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E50914"/>
                </a:solidFill>
                <a:latin typeface="Arial"/>
              </a:rPr>
              <a:t>Scelte tecniche: </a:t>
            </a:r>
            <a:r>
              <a:rPr sz="1250" b="0">
                <a:solidFill>
                  <a:srgbClr val="B3B3B3"/>
                </a:solidFill>
                <a:latin typeface="Arial"/>
              </a:rPr>
              <a:t>locandina nitida su sfondo sfocato (i poster dei cinema sono a bassa risoluzione) · la sfocatura su web usa CSS filter perché blurRadius non funziona in react-native-web · date in ora locale per evitare il bug UTC di mezzanotte.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INGEGNERIA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Pattern di progettazione e architetturali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37360"/>
          <a:ext cx="10908791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82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Pattern</a:t>
                      </a:r>
                    </a:p>
                  </a:txBody>
                  <a:tcPr marT="27432" marB="27432" anchor="ctr">
                    <a:solidFill>
                      <a:srgbClr val="E509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Dove</a:t>
                      </a:r>
                    </a:p>
                  </a:txBody>
                  <a:tcPr marT="27432" marB="27432" anchor="ctr">
                    <a:solidFill>
                      <a:srgbClr val="E509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Perché</a:t>
                      </a:r>
                    </a:p>
                  </a:txBody>
                  <a:tcPr marT="27432" marB="27432" anchor="ctr">
                    <a:solidFill>
                      <a:srgbClr val="E509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Strategy</a:t>
                      </a:r>
                      <a:r>
                        <a:rPr sz="1000" b="0">
                          <a:solidFill>
                            <a:srgbClr val="B3B3B3"/>
                          </a:solidFill>
                          <a:latin typeface="Arial"/>
                        </a:rPr>
                        <a:t> · GoF (comportamentale)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Connettori scraper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Stessa interfaccia scrape(), un'implementazione per cinema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Repository</a:t>
                      </a:r>
                      <a:r>
                        <a:rPr sz="1000" b="0">
                          <a:solidFill>
                            <a:srgbClr val="B3B3B3"/>
                          </a:solidFill>
                          <a:latin typeface="Arial"/>
                        </a:rPr>
                        <a:t> · architetturale (PoEAA)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backend/repositories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Isola l'accesso al DB dal resto del codice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Service layer</a:t>
                      </a:r>
                      <a:r>
                        <a:rPr sz="1000" b="0">
                          <a:solidFill>
                            <a:srgbClr val="B3B3B3"/>
                          </a:solidFill>
                          <a:latin typeface="Arial"/>
                        </a:rPr>
                        <a:t> · architetturale (PoEAA)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backend/services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Logica di business separata da HTTP e DB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DTO</a:t>
                      </a:r>
                      <a:r>
                        <a:rPr sz="1000" b="0">
                          <a:solidFill>
                            <a:srgbClr val="B3B3B3"/>
                          </a:solidFill>
                          <a:latin typeface="Arial"/>
                        </a:rPr>
                        <a:t> · architetturale (PoEAA)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schemas Pydantic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Contratto JSON stabile verso l'app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Dependency Injection</a:t>
                      </a:r>
                      <a:r>
                        <a:rPr sz="1000" b="0">
                          <a:solidFill>
                            <a:srgbClr val="B3B3B3"/>
                          </a:solidFill>
                          <a:latin typeface="Arial"/>
                        </a:rPr>
                        <a:t> · principio (IoC)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get_db in FastAPI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Testabilità: nei test si inietta un DB in-memory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Factory</a:t>
                      </a:r>
                      <a:r>
                        <a:rPr sz="1000" b="0">
                          <a:solidFill>
                            <a:srgbClr val="B3B3B3"/>
                          </a:solidFill>
                          <a:latin typeface="Arial"/>
                        </a:rPr>
                        <a:t> · creazionale (factory)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create_app()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Arial"/>
                        </a:rPr>
                        <a:t>Costruzione controllata di app e configurazione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INGEGNERIA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Testing e qualità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920240" cy="1463040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3800" b="1" i="0">
                <a:solidFill>
                  <a:srgbClr val="E50914"/>
                </a:solidFill>
                <a:latin typeface="Arial"/>
              </a:rPr>
              <a:t>101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B3B3B3"/>
                </a:solidFill>
                <a:latin typeface="Arial"/>
              </a:rPr>
              <a:t>test in tutto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1783080"/>
            <a:ext cx="1920240" cy="1463040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75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B3B3B3"/>
                </a:solidFill>
                <a:latin typeface="Arial"/>
              </a:rPr>
              <a:t>scraper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1783080"/>
            <a:ext cx="1920240" cy="1463040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26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B3B3B3"/>
                </a:solidFill>
                <a:latin typeface="Arial"/>
              </a:rPr>
              <a:t>backend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1783080"/>
            <a:ext cx="4297680" cy="146304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E50914"/>
                </a:solidFill>
                <a:latin typeface="Arial"/>
              </a:rPr>
              <a:t>CI GitHub Actions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Due job (scraper + backend) a ogni push. Lint ruff pulito. Parser con fixture registrate; endpoint con DB in-memory.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66160"/>
            <a:ext cx="10881360" cy="2194560"/>
          </a:xfrm>
          <a:prstGeom prst="roundRect">
            <a:avLst/>
          </a:prstGeom>
          <a:solidFill>
            <a:srgbClr val="1F1F1F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E50914"/>
                </a:solidFill>
                <a:latin typeface="Arial"/>
              </a:rPr>
              <a:t>Un bug </a:t>
            </a:r>
            <a:r>
              <a:rPr sz="1400" b="1" i="0" err="1">
                <a:solidFill>
                  <a:srgbClr val="E50914"/>
                </a:solidFill>
                <a:latin typeface="Arial"/>
              </a:rPr>
              <a:t>reale</a:t>
            </a:r>
            <a:r>
              <a:rPr sz="1400" b="1" i="0">
                <a:solidFill>
                  <a:srgbClr val="E50914"/>
                </a:solidFill>
                <a:latin typeface="Arial"/>
              </a:rPr>
              <a:t>, </a:t>
            </a:r>
            <a:r>
              <a:rPr sz="1400" b="1" i="0" err="1">
                <a:solidFill>
                  <a:srgbClr val="E50914"/>
                </a:solidFill>
                <a:latin typeface="Arial"/>
              </a:rPr>
              <a:t>diagnosticato</a:t>
            </a:r>
            <a:r>
              <a:rPr sz="1400" b="1" i="0">
                <a:solidFill>
                  <a:srgbClr val="E50914"/>
                </a:solidFill>
                <a:latin typeface="Arial"/>
              </a:rPr>
              <a:t> e </a:t>
            </a:r>
            <a:r>
              <a:rPr sz="1400" b="1" i="0" err="1">
                <a:solidFill>
                  <a:srgbClr val="E50914"/>
                </a:solidFill>
                <a:latin typeface="Arial"/>
              </a:rPr>
              <a:t>corretto</a:t>
            </a:r>
            <a:endParaRPr sz="1400" b="1" i="0">
              <a:solidFill>
                <a:srgbClr val="E50914"/>
              </a:solidFill>
              <a:latin typeface="Arial"/>
            </a:endParaRP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Space </a:t>
            </a:r>
            <a:r>
              <a:rPr sz="1500" b="0" i="0" err="1">
                <a:solidFill>
                  <a:srgbClr val="FFFFFF"/>
                </a:solidFill>
                <a:latin typeface="Arial"/>
              </a:rPr>
              <a:t>pubblica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lo </a:t>
            </a:r>
            <a:r>
              <a:rPr sz="1500" b="0" i="0" err="1">
                <a:solidFill>
                  <a:srgbClr val="FFFFFF"/>
                </a:solidFill>
                <a:latin typeface="Arial"/>
              </a:rPr>
              <a:t>stesso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film in </a:t>
            </a:r>
            <a:r>
              <a:rPr sz="1500" b="0" i="0" err="1">
                <a:solidFill>
                  <a:srgbClr val="FFFFFF"/>
                </a:solidFill>
                <a:latin typeface="Arial"/>
              </a:rPr>
              <a:t>più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sale. Il </a:t>
            </a:r>
            <a:r>
              <a:rPr sz="1500" b="0" i="0" err="1">
                <a:solidFill>
                  <a:srgbClr val="FFFFFF"/>
                </a:solidFill>
                <a:latin typeface="Arial"/>
              </a:rPr>
              <a:t>vincolo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UNIQUE(film, cinema, data) ne </a:t>
            </a:r>
            <a:r>
              <a:rPr sz="1500" b="0" i="0" err="1">
                <a:solidFill>
                  <a:srgbClr val="FFFFFF"/>
                </a:solidFill>
                <a:latin typeface="Arial"/>
              </a:rPr>
              <a:t>teneva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</a:t>
            </a:r>
            <a:r>
              <a:rPr sz="1500" b="0" i="0" err="1">
                <a:solidFill>
                  <a:srgbClr val="FFFFFF"/>
                </a:solidFill>
                <a:latin typeface="Arial"/>
              </a:rPr>
              <a:t>una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sola: "</a:t>
            </a:r>
            <a:r>
              <a:rPr sz="1500" b="0" i="0" err="1">
                <a:solidFill>
                  <a:srgbClr val="FFFFFF"/>
                </a:solidFill>
                <a:latin typeface="Arial"/>
              </a:rPr>
              <a:t>Odissea</a:t>
            </a:r>
            <a:r>
              <a:rPr sz="1500" b="0" i="0">
                <a:solidFill>
                  <a:srgbClr val="FFFFFF"/>
                </a:solidFill>
                <a:latin typeface="Arial"/>
              </a:rPr>
              <a:t>" </a:t>
            </a:r>
            <a:r>
              <a:rPr sz="1500" b="0" i="0" err="1">
                <a:solidFill>
                  <a:srgbClr val="FFFFFF"/>
                </a:solidFill>
                <a:latin typeface="Arial"/>
              </a:rPr>
              <a:t>mostrava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1 </a:t>
            </a:r>
            <a:r>
              <a:rPr sz="1500" b="0" i="0" err="1">
                <a:solidFill>
                  <a:srgbClr val="FFFFFF"/>
                </a:solidFill>
                <a:latin typeface="Arial"/>
              </a:rPr>
              <a:t>orario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</a:t>
            </a:r>
            <a:r>
              <a:rPr sz="1500" b="0" i="0" err="1">
                <a:solidFill>
                  <a:srgbClr val="FFFFFF"/>
                </a:solidFill>
                <a:latin typeface="Arial"/>
              </a:rPr>
              <a:t>invece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di 12.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B3B3B3"/>
                </a:solidFill>
                <a:latin typeface="Arial"/>
              </a:rPr>
              <a:t>Il seed ora </a:t>
            </a:r>
            <a:r>
              <a:rPr sz="1500" b="0" i="0" err="1">
                <a:solidFill>
                  <a:srgbClr val="B3B3B3"/>
                </a:solidFill>
                <a:latin typeface="Arial"/>
              </a:rPr>
              <a:t>unisce</a:t>
            </a:r>
            <a:r>
              <a:rPr sz="1500" b="0" i="0">
                <a:solidFill>
                  <a:srgbClr val="B3B3B3"/>
                </a:solidFill>
                <a:latin typeface="Arial"/>
              </a:rPr>
              <a:t> </a:t>
            </a:r>
            <a:r>
              <a:rPr sz="1500" b="0" i="0" err="1">
                <a:solidFill>
                  <a:srgbClr val="B3B3B3"/>
                </a:solidFill>
                <a:latin typeface="Arial"/>
              </a:rPr>
              <a:t>gli</a:t>
            </a:r>
            <a:r>
              <a:rPr sz="1500" b="0" i="0">
                <a:solidFill>
                  <a:srgbClr val="B3B3B3"/>
                </a:solidFill>
                <a:latin typeface="Arial"/>
              </a:rPr>
              <a:t> </a:t>
            </a:r>
            <a:r>
              <a:rPr sz="1500" b="0" i="0" err="1">
                <a:solidFill>
                  <a:srgbClr val="B3B3B3"/>
                </a:solidFill>
                <a:latin typeface="Arial"/>
              </a:rPr>
              <a:t>orari</a:t>
            </a:r>
            <a:r>
              <a:rPr sz="1500" b="0" i="0">
                <a:solidFill>
                  <a:srgbClr val="B3B3B3"/>
                </a:solidFill>
                <a:latin typeface="Arial"/>
              </a:rPr>
              <a:t> di tutte le sale prima di </a:t>
            </a:r>
            <a:r>
              <a:rPr sz="1500" b="0" i="0" err="1">
                <a:solidFill>
                  <a:srgbClr val="B3B3B3"/>
                </a:solidFill>
                <a:latin typeface="Arial"/>
              </a:rPr>
              <a:t>scrivere</a:t>
            </a:r>
            <a:r>
              <a:rPr sz="1500" b="0" i="0">
                <a:solidFill>
                  <a:srgbClr val="B3B3B3"/>
                </a:solidFill>
                <a:latin typeface="Arial"/>
              </a:rPr>
              <a:t>. Diagnosi → fix → test </a:t>
            </a:r>
            <a:r>
              <a:rPr sz="1500" b="0" i="0" err="1">
                <a:solidFill>
                  <a:srgbClr val="B3B3B3"/>
                </a:solidFill>
                <a:latin typeface="Arial"/>
              </a:rPr>
              <a:t>che</a:t>
            </a:r>
            <a:r>
              <a:rPr sz="1500" b="0" i="0">
                <a:solidFill>
                  <a:srgbClr val="B3B3B3"/>
                </a:solidFill>
                <a:latin typeface="Arial"/>
              </a:rPr>
              <a:t> </a:t>
            </a:r>
            <a:r>
              <a:rPr sz="1500" b="0" i="0" err="1">
                <a:solidFill>
                  <a:srgbClr val="B3B3B3"/>
                </a:solidFill>
                <a:latin typeface="Arial"/>
              </a:rPr>
              <a:t>blocca</a:t>
            </a:r>
            <a:r>
              <a:rPr sz="1500" b="0" i="0">
                <a:solidFill>
                  <a:srgbClr val="B3B3B3"/>
                </a:solidFill>
                <a:latin typeface="Arial"/>
              </a:rPr>
              <a:t> la </a:t>
            </a:r>
            <a:r>
              <a:rPr sz="1500" b="0" i="0" err="1">
                <a:solidFill>
                  <a:srgbClr val="B3B3B3"/>
                </a:solidFill>
                <a:latin typeface="Arial"/>
              </a:rPr>
              <a:t>regressione</a:t>
            </a:r>
            <a:r>
              <a:rPr sz="1500" b="0" i="0">
                <a:solidFill>
                  <a:srgbClr val="B3B3B3"/>
                </a:solidFill>
                <a:latin typeface="Arial"/>
              </a:rPr>
              <a:t>. Da 1 a 12 </a:t>
            </a:r>
            <a:r>
              <a:rPr sz="1500" b="0" i="0" err="1">
                <a:solidFill>
                  <a:srgbClr val="B3B3B3"/>
                </a:solidFill>
                <a:latin typeface="Arial"/>
              </a:rPr>
              <a:t>orari</a:t>
            </a:r>
            <a:r>
              <a:rPr sz="1500" b="0" i="0">
                <a:solidFill>
                  <a:srgbClr val="B3B3B3"/>
                </a:solidFill>
                <a:latin typeface="Arial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ANALISI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Rischi e scraping etico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6903720" cy="2633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T="27432" marB="27432" anchor="ctr">
                    <a:solidFill>
                      <a:srgbClr val="E509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Rischio</a:t>
                      </a:r>
                    </a:p>
                  </a:txBody>
                  <a:tcPr marT="27432" marB="27432" anchor="ctr">
                    <a:solidFill>
                      <a:srgbClr val="E509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Severità</a:t>
                      </a:r>
                    </a:p>
                  </a:txBody>
                  <a:tcPr marT="27432" marB="27432" anchor="ctr">
                    <a:solidFill>
                      <a:srgbClr val="E509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R-01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Un sito cambia struttura, lo scraper si rompe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ALTO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R-03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Sito in JavaScript non scrapabile (SPA)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ALTO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R-02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robots.txt vieta il crawling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MEDIO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R-05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Scope creep (feature non pianificate)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MEDIO</a:t>
                      </a:r>
                    </a:p>
                  </a:txBody>
                  <a:tcPr marT="27432" marB="27432" anchor="ctr">
                    <a:solidFill>
                      <a:srgbClr val="2B2B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R-04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Wikidata manca per film di nicchia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FFFFFF"/>
                          </a:solidFill>
                          <a:latin typeface="Arial"/>
                        </a:rPr>
                        <a:t>BASSO</a:t>
                      </a:r>
                    </a:p>
                  </a:txBody>
                  <a:tcPr marT="27432" marB="27432" anchor="ctr">
                    <a:solidFill>
                      <a:srgbClr val="1F1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1600200"/>
            <a:ext cx="3749039" cy="219456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E50914"/>
                </a:solidFill>
                <a:latin typeface="Arial"/>
              </a:rPr>
              <a:t>Mitigazione chiave (R-01)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E50914"/>
                </a:solidFill>
                <a:latin typeface="Arial"/>
              </a:rPr>
              <a:t>•  </a:t>
            </a:r>
            <a:r>
              <a:rPr sz="1250" b="0">
                <a:solidFill>
                  <a:srgbClr val="FFFFFF"/>
                </a:solidFill>
                <a:latin typeface="Arial"/>
              </a:rPr>
              <a:t>Un connettore per cinema: si rompe solo quello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E50914"/>
                </a:solidFill>
                <a:latin typeface="Arial"/>
              </a:rPr>
              <a:t>•  </a:t>
            </a:r>
            <a:r>
              <a:rPr sz="1250" b="0">
                <a:solidFill>
                  <a:srgbClr val="FFFFFF"/>
                </a:solidFill>
                <a:latin typeface="Arial"/>
              </a:rPr>
              <a:t>Errori isolati, gli altri continuano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E50914"/>
                </a:solidFill>
                <a:latin typeface="Arial"/>
              </a:rPr>
              <a:t>•  </a:t>
            </a:r>
            <a:r>
              <a:rPr sz="1250" b="0">
                <a:solidFill>
                  <a:srgbClr val="FFFFFF"/>
                </a:solidFill>
                <a:latin typeface="Arial"/>
              </a:rPr>
              <a:t>Delta tracking: i dati vecchi restano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E50914"/>
                </a:solidFill>
                <a:latin typeface="Arial"/>
              </a:rPr>
              <a:t>•  </a:t>
            </a:r>
            <a:r>
              <a:rPr sz="1250" b="0">
                <a:solidFill>
                  <a:srgbClr val="FFFFFF"/>
                </a:solidFill>
                <a:latin typeface="Arial"/>
              </a:rPr>
              <a:t>75 test fissano ogni parser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26280"/>
            <a:ext cx="10881360" cy="141732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E50914"/>
                </a:solidFill>
                <a:latin typeface="Arial"/>
              </a:rPr>
              <a:t>Scraping etico (RF-09 / RNF-04)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robots.txt rispettato · rate limit 1 req/s · run notturna · User-Agent con contatto reale · link al sito del cinema per l'acquisto: </a:t>
            </a:r>
            <a:r>
              <a:rPr sz="1350" b="1">
                <a:solidFill>
                  <a:srgbClr val="E50914"/>
                </a:solidFill>
                <a:latin typeface="Arial"/>
              </a:rPr>
              <a:t>portiamo traffico, non lo togliamo.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INGEGNERIA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Decisioni di design difese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28016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SQLite anche in produzione   (D4)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3B3B3"/>
                </a:solidFill>
                <a:latin typeface="Arial"/>
              </a:rPr>
              <a:t>Tre cinema, un paio di centinaia di spettacoli, sola lettura. Un DB server aggiungerebbe amministrazione senza benefici. Il layer repository isola la scelta: migrare a PostgreSQL cambia la stringa di connessione, non il codice.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27832"/>
            <a:ext cx="10881360" cy="128016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Wikidata, non TMDB   (D1)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3B3B3"/>
                </a:solidFill>
                <a:latin typeface="Arial"/>
              </a:rPr>
              <a:t>Niente API key, niente limiti commerciali, licenza aperta, query SPARQL con cache locale.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626864"/>
            <a:ext cx="10881360" cy="128016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Un connettore per cinema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3B3B3"/>
                </a:solidFill>
                <a:latin typeface="Arial"/>
              </a:rPr>
              <a:t>Robustezza (un sito rotto non ferma gli altri) e flessibilità: l'API di UCI non è documentata e può cambiare.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CinePosto · Team RepCode · 14 luglio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808080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2651760"/>
            <a:ext cx="94183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2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Demo dal vivo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B3B3B3"/>
                </a:solidFill>
                <a:latin typeface="Arial"/>
              </a:rPr>
              <a:t>L'app, gli orari veri raccolti stamattina, la pipeline end-to-end.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84048"/>
            <a:ext cx="1143000" cy="340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8404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0914"/>
                </a:solidFill>
                <a:latin typeface="Arial"/>
              </a:rPr>
              <a:t>CHIUSURA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94944"/>
            <a:ext cx="97840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In sintesi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16736"/>
            <a:ext cx="1097280" cy="457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5349240" cy="2286000"/>
          </a:xfrm>
          <a:prstGeom prst="roundRect">
            <a:avLst/>
          </a:prstGeom>
          <a:solidFill>
            <a:srgbClr val="2B2B2B"/>
          </a:solidFill>
          <a:ln w="15875">
            <a:solidFill>
              <a:srgbClr val="E509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E50914"/>
                </a:solidFill>
                <a:latin typeface="Arial"/>
              </a:rPr>
              <a:t>Fatto</a:t>
            </a:r>
          </a:p>
          <a:p>
            <a:pPr algn="l">
              <a:spcAft>
                <a:spcPts val="700"/>
              </a:spcAft>
            </a:pPr>
            <a:r>
              <a:rPr sz="1400">
                <a:solidFill>
                  <a:srgbClr val="E50914"/>
                </a:solidFill>
                <a:latin typeface="Arial"/>
              </a:rPr>
              <a:t>•  </a:t>
            </a:r>
            <a:r>
              <a:rPr sz="1400" b="0">
                <a:solidFill>
                  <a:srgbClr val="FFFFFF"/>
                </a:solidFill>
                <a:latin typeface="Arial"/>
              </a:rPr>
              <a:t>Pipeline completa end-to-end su dato reale</a:t>
            </a:r>
          </a:p>
          <a:p>
            <a:pPr algn="l">
              <a:spcAft>
                <a:spcPts val="700"/>
              </a:spcAft>
            </a:pPr>
            <a:r>
              <a:rPr sz="1400">
                <a:solidFill>
                  <a:srgbClr val="E50914"/>
                </a:solidFill>
                <a:latin typeface="Arial"/>
              </a:rPr>
              <a:t>•  </a:t>
            </a:r>
            <a:r>
              <a:rPr sz="1400" b="0">
                <a:solidFill>
                  <a:srgbClr val="FFFFFF"/>
                </a:solidFill>
                <a:latin typeface="Arial"/>
              </a:rPr>
              <a:t>App su web e smartphone, stessa codebase</a:t>
            </a:r>
          </a:p>
          <a:p>
            <a:pPr algn="l">
              <a:spcAft>
                <a:spcPts val="700"/>
              </a:spcAft>
            </a:pPr>
            <a:r>
              <a:rPr sz="1400">
                <a:solidFill>
                  <a:srgbClr val="E50914"/>
                </a:solidFill>
                <a:latin typeface="Arial"/>
              </a:rPr>
              <a:t>•  </a:t>
            </a:r>
            <a:r>
              <a:rPr sz="1400" b="0">
                <a:solidFill>
                  <a:srgbClr val="FFFFFF"/>
                </a:solidFill>
                <a:latin typeface="Arial"/>
              </a:rPr>
              <a:t>101 test automatici + CI a ogni push</a:t>
            </a:r>
          </a:p>
          <a:p>
            <a:pPr algn="l">
              <a:spcAft>
                <a:spcPts val="700"/>
              </a:spcAft>
            </a:pPr>
            <a:r>
              <a:rPr sz="1400">
                <a:solidFill>
                  <a:srgbClr val="E50914"/>
                </a:solidFill>
                <a:latin typeface="Arial"/>
              </a:rPr>
              <a:t>•  </a:t>
            </a:r>
            <a:r>
              <a:rPr sz="1400" b="0">
                <a:solidFill>
                  <a:srgbClr val="FFFFFF"/>
                </a:solidFill>
                <a:latin typeface="Arial"/>
              </a:rPr>
              <a:t>Ricerca per titolo (era prevista per la 1.1)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349240" cy="2286000"/>
          </a:xfrm>
          <a:prstGeom prst="round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E50914"/>
                </a:solidFill>
                <a:latin typeface="Arial"/>
              </a:rPr>
              <a:t>Prossimi passi (Release 1.1)</a:t>
            </a:r>
          </a:p>
          <a:p>
            <a:pPr algn="l">
              <a:spcAft>
                <a:spcPts val="700"/>
              </a:spcAft>
            </a:pPr>
            <a:r>
              <a:rPr sz="1400">
                <a:solidFill>
                  <a:srgbClr val="E50914"/>
                </a:solidFill>
                <a:latin typeface="Arial"/>
              </a:rPr>
              <a:t>•  </a:t>
            </a:r>
            <a:r>
              <a:rPr sz="1400" b="0">
                <a:solidFill>
                  <a:srgbClr val="FFFFFF"/>
                </a:solidFill>
                <a:latin typeface="Arial"/>
              </a:rPr>
              <a:t>Avviso quando i dati di un cinema sono obsoleti</a:t>
            </a:r>
          </a:p>
          <a:p>
            <a:pPr algn="l">
              <a:spcAft>
                <a:spcPts val="700"/>
              </a:spcAft>
            </a:pPr>
            <a:r>
              <a:rPr sz="1400">
                <a:solidFill>
                  <a:srgbClr val="E50914"/>
                </a:solidFill>
                <a:latin typeface="Arial"/>
              </a:rPr>
              <a:t>•  </a:t>
            </a:r>
            <a:r>
              <a:rPr sz="1400" b="0">
                <a:solidFill>
                  <a:srgbClr val="FFFFFF"/>
                </a:solidFill>
                <a:latin typeface="Arial"/>
              </a:rPr>
              <a:t>Deploy in cloud (backend + web build)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10881360" cy="1234440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64592" rIns="219456" rtlCol="0" anchor="t"/>
          <a:lstStyle/>
          <a:p>
            <a:pPr algn="l">
              <a:spcAft>
                <a:spcPts val="800"/>
              </a:spcAft>
            </a:pPr>
            <a:r>
              <a:rPr sz="1400" b="1" i="0" err="1">
                <a:solidFill>
                  <a:srgbClr val="E50914"/>
                </a:solidFill>
                <a:latin typeface="Arial"/>
              </a:rPr>
              <a:t>Limiti</a:t>
            </a:r>
            <a:r>
              <a:rPr sz="1400" b="1" i="0">
                <a:solidFill>
                  <a:srgbClr val="E50914"/>
                </a:solidFill>
                <a:latin typeface="Arial"/>
              </a:rPr>
              <a:t> </a:t>
            </a:r>
            <a:r>
              <a:rPr sz="1400" b="1" i="0" err="1">
                <a:solidFill>
                  <a:srgbClr val="E50914"/>
                </a:solidFill>
                <a:latin typeface="Arial"/>
              </a:rPr>
              <a:t>onesti</a:t>
            </a:r>
            <a:endParaRPr sz="1400" b="1" i="0">
              <a:solidFill>
                <a:srgbClr val="E50914"/>
              </a:solidFill>
              <a:latin typeface="Arial"/>
            </a:endParaRP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3B3B3"/>
                </a:solidFill>
                <a:latin typeface="Arial"/>
              </a:rPr>
              <a:t>UNIQUE(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titolo</a:t>
            </a:r>
            <a:r>
              <a:rPr sz="1300" b="0" i="0">
                <a:solidFill>
                  <a:srgbClr val="B3B3B3"/>
                </a:solidFill>
                <a:latin typeface="Arial"/>
              </a:rPr>
              <a:t>, anno) non 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copre</a:t>
            </a:r>
            <a:r>
              <a:rPr sz="1300" b="0" i="0">
                <a:solidFill>
                  <a:srgbClr val="B3B3B3"/>
                </a:solidFill>
                <a:latin typeface="Arial"/>
              </a:rPr>
              <a:t> 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l'anno</a:t>
            </a:r>
            <a:r>
              <a:rPr sz="1300" b="0" i="0">
                <a:solidFill>
                  <a:srgbClr val="B3B3B3"/>
                </a:solidFill>
                <a:latin typeface="Arial"/>
              </a:rPr>
              <a:t> NULL (in SQL NULL ≠ NULL): 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lì</a:t>
            </a:r>
            <a:r>
              <a:rPr sz="1300" b="0" i="0">
                <a:solidFill>
                  <a:srgbClr val="B3B3B3"/>
                </a:solidFill>
                <a:latin typeface="Arial"/>
              </a:rPr>
              <a:t> la 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dedup</a:t>
            </a:r>
            <a:r>
              <a:rPr sz="1300" b="0" i="0">
                <a:solidFill>
                  <a:srgbClr val="B3B3B3"/>
                </a:solidFill>
                <a:latin typeface="Arial"/>
              </a:rPr>
              <a:t> 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è</a:t>
            </a:r>
            <a:r>
              <a:rPr sz="1300" b="0" i="0">
                <a:solidFill>
                  <a:srgbClr val="B3B3B3"/>
                </a:solidFill>
                <a:latin typeface="Arial"/>
              </a:rPr>
              <a:t> 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nel</a:t>
            </a:r>
            <a:r>
              <a:rPr sz="1300" b="0" i="0">
                <a:solidFill>
                  <a:srgbClr val="B3B3B3"/>
                </a:solidFill>
                <a:latin typeface="Arial"/>
              </a:rPr>
              <a:t> 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codice</a:t>
            </a:r>
            <a:r>
              <a:rPr sz="1300" b="0" i="0">
                <a:solidFill>
                  <a:srgbClr val="B3B3B3"/>
                </a:solidFill>
                <a:latin typeface="Arial"/>
              </a:rPr>
              <a:t>. L'API di UCI non 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è</a:t>
            </a:r>
            <a:r>
              <a:rPr sz="1300" b="0" i="0">
                <a:solidFill>
                  <a:srgbClr val="B3B3B3"/>
                </a:solidFill>
                <a:latin typeface="Arial"/>
              </a:rPr>
              <a:t> 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documentata</a:t>
            </a:r>
            <a:r>
              <a:rPr sz="1300" b="0" i="0">
                <a:solidFill>
                  <a:srgbClr val="B3B3B3"/>
                </a:solidFill>
                <a:latin typeface="Arial"/>
              </a:rPr>
              <a:t>. SQLite 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serializza</a:t>
            </a:r>
            <a:r>
              <a:rPr sz="1300" b="0" i="0">
                <a:solidFill>
                  <a:srgbClr val="B3B3B3"/>
                </a:solidFill>
                <a:latin typeface="Arial"/>
              </a:rPr>
              <a:t> le 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scritture</a:t>
            </a:r>
            <a:r>
              <a:rPr sz="1300" b="0" i="0">
                <a:solidFill>
                  <a:srgbClr val="B3B3B3"/>
                </a:solidFill>
                <a:latin typeface="Arial"/>
              </a:rPr>
              <a:t> — 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va</a:t>
            </a:r>
            <a:r>
              <a:rPr sz="1300" b="0" i="0">
                <a:solidFill>
                  <a:srgbClr val="B3B3B3"/>
                </a:solidFill>
                <a:latin typeface="Arial"/>
              </a:rPr>
              <a:t> bene </a:t>
            </a:r>
            <a:r>
              <a:rPr sz="1300" b="0" i="0" err="1">
                <a:solidFill>
                  <a:srgbClr val="B3B3B3"/>
                </a:solidFill>
                <a:latin typeface="Arial"/>
              </a:rPr>
              <a:t>perché</a:t>
            </a:r>
            <a:r>
              <a:rPr sz="1300" b="0" i="0">
                <a:solidFill>
                  <a:srgbClr val="B3B3B3"/>
                </a:solidFill>
                <a:latin typeface="Arial"/>
              </a:rPr>
              <a:t> scrive solo il seed notturno.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23560"/>
            <a:ext cx="1088136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 dirty="0">
                <a:solidFill>
                  <a:srgbClr val="FFFFFF"/>
                </a:solidFill>
                <a:latin typeface="Arial"/>
              </a:rPr>
              <a:t>Grazie. Team </a:t>
            </a:r>
            <a:r>
              <a:rPr sz="1800" b="1" i="0" dirty="0" err="1">
                <a:solidFill>
                  <a:srgbClr val="FFFFFF"/>
                </a:solidFill>
                <a:latin typeface="Arial"/>
              </a:rPr>
              <a:t>RepCode</a:t>
            </a:r>
            <a:endParaRPr sz="1800" b="1" i="0" dirty="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2018</Words>
  <Application>Microsoft Macintosh PowerPoint</Application>
  <PresentationFormat>Widescreen</PresentationFormat>
  <Paragraphs>329</Paragraphs>
  <Slides>18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Emanuele Benedetto Ceccariglia</cp:lastModifiedBy>
  <cp:revision>2</cp:revision>
  <dcterms:created xsi:type="dcterms:W3CDTF">2013-01-27T09:14:16Z</dcterms:created>
  <dcterms:modified xsi:type="dcterms:W3CDTF">2026-07-14T08:45:58Z</dcterms:modified>
  <cp:category/>
</cp:coreProperties>
</file>