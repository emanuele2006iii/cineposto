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371600"/>
            <a:ext cx="4114800" cy="1139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06324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9C9CA8"/>
                </a:solidFill>
                <a:latin typeface="Arial"/>
              </a:rPr>
              <a:t>Aggregatore della programmazione dei cinema dell'Umbria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3886200"/>
            <a:ext cx="914400" cy="274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18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 u="none">
                <a:solidFill>
                  <a:srgbClr val="ECECF0"/>
                </a:solidFill>
                <a:latin typeface="Arial"/>
              </a:rPr>
              <a:t>Team RepCode</a:t>
            </a:r>
          </a:p>
          <a:p>
            <a:pPr algn="ctr">
              <a:spcAft>
                <a:spcPts val="1600"/>
              </a:spcAft>
            </a:pPr>
            <a:r>
              <a:rPr sz="1400" b="0" i="0" u="none">
                <a:solidFill>
                  <a:srgbClr val="9C9CA8"/>
                </a:solidFill>
                <a:latin typeface="Arial"/>
              </a:rPr>
              <a:t>Emanuele Ceccariglia  ·  Elio Casciola  ·  Andrea Cestelli  ·  Yonas Burka</a:t>
            </a:r>
          </a:p>
          <a:p>
            <a:pPr algn="ctr">
              <a:spcAft>
                <a:spcPts val="400"/>
              </a:spcAft>
            </a:pPr>
            <a:r>
              <a:rPr sz="1300" b="0" i="0" u="none">
                <a:solidFill>
                  <a:srgbClr val="666672"/>
                </a:solidFill>
                <a:latin typeface="Arial"/>
              </a:rPr>
              <a:t>Ingegneria del Software — ITS Umbria Academy, a.a. 2025/2026 · Prof. Montecchiani</a:t>
            </a:r>
          </a:p>
          <a:p>
            <a:pPr algn="ctr">
              <a:spcAft>
                <a:spcPts val="600"/>
              </a:spcAft>
            </a:pPr>
            <a:r>
              <a:rPr sz="1300" b="1" i="0" u="none">
                <a:solidFill>
                  <a:srgbClr val="F26D74"/>
                </a:solidFill>
                <a:latin typeface="Arial"/>
              </a:rPr>
              <a:t>Esposizione — 14 luglio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PERCHÉ NASCE CINEPOSTO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Il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257800" cy="36118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Com'è oggi</a:t>
            </a:r>
          </a:p>
          <a:p>
            <a:pPr algn="l">
              <a:spcAft>
                <a:spcPts val="1600"/>
              </a:spcAft>
            </a:pPr>
            <a:r>
              <a:rPr sz="1800" b="1" i="0" u="none">
                <a:solidFill>
                  <a:srgbClr val="ECECF0"/>
                </a:solidFill>
                <a:latin typeface="Arial"/>
              </a:rPr>
              <a:t>Per sapere cosa danno stasera a Perugia devi aprire tre siti diversi, ognuno fatto a modo suo.</a:t>
            </a:r>
          </a:p>
          <a:p>
            <a:pPr algn="l">
              <a:spcAft>
                <a:spcPts val="500"/>
              </a:spcAft>
            </a:pPr>
            <a:r>
              <a:rPr sz="1400" b="0" i="0" u="none">
                <a:solidFill>
                  <a:srgbClr val="9C9CA8"/>
                </a:solidFill>
                <a:latin typeface="Arial"/>
              </a:rPr>
              <a:t>PostModernissimo, The Space Corciano e UCI Perugia:</a:t>
            </a:r>
          </a:p>
          <a:p>
            <a:pPr algn="l">
              <a:spcAft>
                <a:spcPts val="600"/>
              </a:spcAft>
            </a:pPr>
            <a:r>
              <a:rPr sz="1400" b="0" i="0" u="none">
                <a:solidFill>
                  <a:srgbClr val="9C9CA8"/>
                </a:solidFill>
                <a:latin typeface="Arial"/>
              </a:rPr>
              <a:t>programmazioni sparse, formati diversi, nessun colpo d'occhio.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57800" cy="36118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La nostra idea</a:t>
            </a:r>
          </a:p>
          <a:p>
            <a:pPr algn="l">
              <a:spcAft>
                <a:spcPts val="1600"/>
              </a:spcAft>
            </a:pPr>
            <a:r>
              <a:rPr sz="1800" b="1" i="0" u="none">
                <a:solidFill>
                  <a:srgbClr val="ECECF0"/>
                </a:solidFill>
                <a:latin typeface="Arial"/>
              </a:rPr>
              <a:t>Una sola app che raccoglie i film, gli orari e i cinema dai tre siti e li mette in un posto solo.</a:t>
            </a:r>
          </a:p>
          <a:p>
            <a:pPr algn="l">
              <a:spcAft>
                <a:spcPts val="500"/>
              </a:spcAft>
            </a:pPr>
            <a:r>
              <a:rPr sz="1400" b="0" i="0" u="none">
                <a:solidFill>
                  <a:srgbClr val="9C9CA8"/>
                </a:solidFill>
                <a:latin typeface="Arial"/>
              </a:rPr>
              <a:t>I dati non li scriviamo a mano: li raccoglie in automatico uno scraper.</a:t>
            </a:r>
          </a:p>
          <a:p>
            <a:pPr algn="l">
              <a:spcAft>
                <a:spcPts val="600"/>
              </a:spcAft>
            </a:pPr>
            <a:r>
              <a:rPr sz="1400" b="0" i="0" u="none">
                <a:solidFill>
                  <a:srgbClr val="9C9CA8"/>
                </a:solidFill>
                <a:latin typeface="Arial"/>
              </a:rPr>
              <a:t>Gratuita, senza registrazione, sia su web sia su smartphone.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L'APPLICAZIONE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Cosa fa, dal punto di vista di chi la 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E50914"/>
                </a:solidFill>
                <a:latin typeface="Arial"/>
              </a:rPr>
              <a:t>—  </a:t>
            </a:r>
            <a:r>
              <a:rPr sz="1800" b="0">
                <a:solidFill>
                  <a:srgbClr val="ECECF0"/>
                </a:solidFill>
                <a:latin typeface="Arial"/>
              </a:rPr>
              <a:t>La home mostra il cartellone del giorno, con una barra per scegliere la data fra i prossimi sette giorni.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E50914"/>
                </a:solidFill>
                <a:latin typeface="Arial"/>
              </a:rPr>
              <a:t>—  </a:t>
            </a:r>
            <a:r>
              <a:rPr sz="1800" b="0">
                <a:solidFill>
                  <a:srgbClr val="ECECF0"/>
                </a:solidFill>
                <a:latin typeface="Arial"/>
              </a:rPr>
              <a:t>Il dettaglio di un film raccoglie gli orari cinema per cinema, con il link diretto per comprare il biglietto.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E50914"/>
                </a:solidFill>
                <a:latin typeface="Arial"/>
              </a:rPr>
              <a:t>—  </a:t>
            </a:r>
            <a:r>
              <a:rPr sz="1800" b="0">
                <a:solidFill>
                  <a:srgbClr val="ECECF0"/>
                </a:solidFill>
                <a:latin typeface="Arial"/>
              </a:rPr>
              <a:t>La ricerca trova un film per titolo mentre scrivi.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E50914"/>
                </a:solidFill>
                <a:latin typeface="Arial"/>
              </a:rPr>
              <a:t>—  </a:t>
            </a:r>
            <a:r>
              <a:rPr sz="1800" b="0">
                <a:solidFill>
                  <a:srgbClr val="ECECF0"/>
                </a:solidFill>
                <a:latin typeface="Arial"/>
              </a:rPr>
              <a:t>La mappa mostra i tre cinema con i loro indirizzi; toccandone uno si apre in Google Maps.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E50914"/>
                </a:solidFill>
                <a:latin typeface="Arial"/>
              </a:rPr>
              <a:t>—  </a:t>
            </a:r>
            <a:r>
              <a:rPr sz="1800" b="0">
                <a:solidFill>
                  <a:srgbClr val="ECECF0"/>
                </a:solidFill>
                <a:latin typeface="Arial"/>
              </a:rPr>
              <a:t>È la stessa applicazione, dallo stesso codice, sia nel browser sia su iPhone e Android.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ARCHITETTURA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Come è fatto: una catena in tre stadi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993392" cy="150876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I tre siti</a:t>
            </a:r>
          </a:p>
          <a:p>
            <a:pPr algn="ctr">
              <a:spcAft>
                <a:spcPts val="200"/>
              </a:spcAft>
            </a:pPr>
            <a:r>
              <a:rPr sz="1100" b="0" i="0" u="none">
                <a:solidFill>
                  <a:srgbClr val="9C9CA8"/>
                </a:solidFill>
                <a:latin typeface="Arial"/>
              </a:rPr>
              <a:t>+ Wikidata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60903" y="2912364"/>
            <a:ext cx="256031" cy="256032"/>
          </a:xfrm>
          <a:prstGeom prst="right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2656" y="2286000"/>
            <a:ext cx="1993392" cy="150876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Scraper</a:t>
            </a:r>
          </a:p>
          <a:p>
            <a:pPr algn="ctr">
              <a:spcAft>
                <a:spcPts val="200"/>
              </a:spcAft>
            </a:pPr>
            <a:r>
              <a:rPr sz="1100" b="0" i="0" u="none">
                <a:solidFill>
                  <a:srgbClr val="9C9CA8"/>
                </a:solidFill>
                <a:latin typeface="Arial"/>
              </a:rPr>
              <a:t>(Python)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83480" y="2912364"/>
            <a:ext cx="256031" cy="256032"/>
          </a:xfrm>
          <a:prstGeom prst="right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85232" y="2286000"/>
            <a:ext cx="1993392" cy="150876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File JSON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06056" y="2912364"/>
            <a:ext cx="256031" cy="256032"/>
          </a:xfrm>
          <a:prstGeom prst="right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07808" y="2286000"/>
            <a:ext cx="1993392" cy="150876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Backend</a:t>
            </a:r>
          </a:p>
          <a:p>
            <a:pPr algn="ctr">
              <a:spcAft>
                <a:spcPts val="200"/>
              </a:spcAft>
            </a:pPr>
            <a:r>
              <a:rPr sz="1100" b="0" i="0" u="none">
                <a:solidFill>
                  <a:srgbClr val="9C9CA8"/>
                </a:solidFill>
                <a:latin typeface="Arial"/>
              </a:rPr>
              <a:t>(FastAPI)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28632" y="2912364"/>
            <a:ext cx="256031" cy="256032"/>
          </a:xfrm>
          <a:prstGeom prst="right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30384" y="2286000"/>
            <a:ext cx="1993392" cy="1508760"/>
          </a:xfrm>
          <a:prstGeom prst="roundRect">
            <a:avLst/>
          </a:prstGeom>
          <a:solidFill>
            <a:srgbClr val="24242C"/>
          </a:solidFill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App</a:t>
            </a:r>
          </a:p>
          <a:p>
            <a:pPr algn="ctr">
              <a:spcAft>
                <a:spcPts val="200"/>
              </a:spcAft>
            </a:pPr>
            <a:r>
              <a:rPr sz="1100" b="0" i="0" u="none">
                <a:solidFill>
                  <a:srgbClr val="9C9CA8"/>
                </a:solidFill>
                <a:latin typeface="Arial"/>
              </a:rPr>
              <a:t>(React Native)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 u="none">
                <a:solidFill>
                  <a:srgbClr val="ECECF0"/>
                </a:solidFill>
                <a:latin typeface="Arial"/>
              </a:rPr>
              <a:t>Ogni stadio ha un compito solo e passa il testimone al successivo con un contratto ben preciso: file JSON fra scraper e backend, chiamate REST fra backend e app.</a:t>
            </a:r>
          </a:p>
          <a:p>
            <a:pPr algn="l">
              <a:spcAft>
                <a:spcPts val="600"/>
              </a:spcAft>
            </a:pPr>
            <a:r>
              <a:rPr sz="1500" b="0" i="0" u="none">
                <a:solidFill>
                  <a:srgbClr val="9C9CA8"/>
                </a:solidFill>
                <a:latin typeface="Arial"/>
              </a:rPr>
              <a:t>Il vantaggio: ogni pezzo si può sviluppare e collaudare da solo. Lo scraper lavora di notte, il backend carica i dati nel database, l'app li mostra.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REQUISITI FUNZIONALI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Che cosa deve fare il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0908792" cy="4553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8348472"/>
                <a:gridCol w="1645920"/>
              </a:tblGrid>
              <a:tr h="37947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CECF0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109728" marR="109728" marT="32004" marB="32004" anchor="ctr">
                    <a:solidFill>
                      <a:srgbClr val="2C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CECF0"/>
                          </a:solidFill>
                          <a:latin typeface="Arial"/>
                        </a:rPr>
                        <a:t>Requisito</a:t>
                      </a:r>
                    </a:p>
                  </a:txBody>
                  <a:tcPr marL="109728" marR="109728" marT="32004" marB="32004" anchor="ctr">
                    <a:solidFill>
                      <a:srgbClr val="2C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CECF0"/>
                          </a:solidFill>
                          <a:latin typeface="Arial"/>
                        </a:rPr>
                        <a:t>Priorità</a:t>
                      </a:r>
                    </a:p>
                  </a:txBody>
                  <a:tcPr marL="109728" marR="109728" marT="32004" marB="32004" anchor="ctr">
                    <a:solidFill>
                      <a:srgbClr val="2C2C36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RF-01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Mostrare la lista dei cinema dell'Umbria con nome, città e sito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RF-02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Mostrare la programmazione di ogni cinema: film, orari e giorni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RF-03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Mostrare i cinema su una mappa, con marcatori che si possono toccare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RF-04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Filtrare la programmazione per data (oggi, domani, questa settimana)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RF-05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Filtrare i cinema per comune o per zona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RF-06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Mostrare la scheda di un film: genere, durata, locandina, trama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RF-07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Dare il link al sito del cinema per comprare il biglietto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RF-08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Aggiornare i dati da solo, almeno una volta al giorno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RF-09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Raccogliere i dati rispettando le regole di ogni sito (robots.txt)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RF-10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Cercare un film per titolo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RF-11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Avvisare se i dati di un cinema sono vecchi di più di 48 ore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CECF0"/>
                          </a:solidFill>
                          <a:latin typeface="Arial"/>
                        </a:rPr>
                        <a:t>Bassa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1924812"/>
            <a:ext cx="10908792" cy="274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REQUISITI NON FUNZIONALI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Come deve comportarsi, e cosa viene prima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623560" cy="40690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Requisiti non funzionali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E50914"/>
                </a:solidFill>
                <a:latin typeface="Arial"/>
              </a:rPr>
              <a:t>—  </a:t>
            </a:r>
            <a:r>
              <a:rPr sz="1300" b="0">
                <a:solidFill>
                  <a:srgbClr val="ECECF0"/>
                </a:solidFill>
                <a:latin typeface="Arial"/>
              </a:rPr>
              <a:t>Funziona su iPhone e Android dallo stesso codice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E50914"/>
                </a:solidFill>
                <a:latin typeface="Arial"/>
              </a:rPr>
              <a:t>—  </a:t>
            </a:r>
            <a:r>
              <a:rPr sz="1300" b="0">
                <a:solidFill>
                  <a:srgbClr val="ECECF0"/>
                </a:solidFill>
                <a:latin typeface="Arial"/>
              </a:rPr>
              <a:t>I dati restano aggiornati entro 24 ore dalla fonte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E50914"/>
                </a:solidFill>
                <a:latin typeface="Arial"/>
              </a:rPr>
              <a:t>—  </a:t>
            </a:r>
            <a:r>
              <a:rPr sz="1300" b="0">
                <a:solidFill>
                  <a:srgbClr val="ECECF0"/>
                </a:solidFill>
                <a:latin typeface="Arial"/>
              </a:rPr>
              <a:t>Nessun account e nessun tracciamento dell'utente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E50914"/>
                </a:solidFill>
                <a:latin typeface="Arial"/>
              </a:rPr>
              <a:t>—  </a:t>
            </a:r>
            <a:r>
              <a:rPr sz="1300" b="0">
                <a:solidFill>
                  <a:srgbClr val="ECECF0"/>
                </a:solidFill>
                <a:latin typeface="Arial"/>
              </a:rPr>
              <a:t>Rispetta le regole dei siti: al massimo una richiesta al secondo, di notte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E50914"/>
                </a:solidFill>
                <a:latin typeface="Arial"/>
              </a:rPr>
              <a:t>—  </a:t>
            </a:r>
            <a:r>
              <a:rPr sz="1300" b="0">
                <a:solidFill>
                  <a:srgbClr val="ECECF0"/>
                </a:solidFill>
                <a:latin typeface="Arial"/>
              </a:rPr>
              <a:t>Le schermate principali si aprono in meno di due secondi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E50914"/>
                </a:solidFill>
                <a:latin typeface="Arial"/>
              </a:rPr>
              <a:t>—  </a:t>
            </a:r>
            <a:r>
              <a:rPr sz="1300" b="0">
                <a:solidFill>
                  <a:srgbClr val="ECECF0"/>
                </a:solidFill>
                <a:latin typeface="Arial"/>
              </a:rPr>
              <a:t>Il backend è raggiungibile almeno il 95% del tempo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E50914"/>
                </a:solidFill>
                <a:latin typeface="Arial"/>
              </a:rPr>
              <a:t>—  </a:t>
            </a:r>
            <a:r>
              <a:rPr sz="1300" b="0">
                <a:solidFill>
                  <a:srgbClr val="ECECF0"/>
                </a:solidFill>
                <a:latin typeface="Arial"/>
              </a:rPr>
              <a:t>Si può estendere ad altre regioni senza riscrivere il codice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783080"/>
            <a:ext cx="5074920" cy="40690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Cosa entra nell'MVP, e cosa no</a:t>
            </a:r>
          </a:p>
          <a:p>
            <a:pPr algn="l">
              <a:spcAft>
                <a:spcPts val="1100"/>
              </a:spcAft>
            </a:pPr>
            <a:r>
              <a:rPr sz="1300" b="0" i="0" u="none">
                <a:solidFill>
                  <a:srgbClr val="9C9CA8"/>
                </a:solidFill>
                <a:latin typeface="Arial"/>
              </a:rPr>
              <a:t>Ogni requisito è stato pesato per importanza e difficoltà.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6D74"/>
                </a:solidFill>
                <a:latin typeface="Arial"/>
              </a:rPr>
              <a:t>Fatto subito.  </a:t>
            </a:r>
            <a:r>
              <a:rPr sz="1300" b="0">
                <a:solidFill>
                  <a:srgbClr val="ECECF0"/>
                </a:solidFill>
                <a:latin typeface="Arial"/>
              </a:rPr>
              <a:t>lista, programmazione, mappa, filtro data, scheda film, link acquisto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6D74"/>
                </a:solidFill>
                <a:latin typeface="Arial"/>
              </a:rPr>
              <a:t>Curato con attenzione.  </a:t>
            </a:r>
            <a:r>
              <a:rPr sz="1300" b="0">
                <a:solidFill>
                  <a:srgbClr val="ECECF0"/>
                </a:solidFill>
                <a:latin typeface="Arial"/>
              </a:rPr>
              <a:t>lo scraping automatico, la parte più difficile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6D74"/>
                </a:solidFill>
                <a:latin typeface="Arial"/>
              </a:rPr>
              <a:t>Aggiunto se c'era tempo.  </a:t>
            </a:r>
            <a:r>
              <a:rPr sz="1300" b="0">
                <a:solidFill>
                  <a:srgbClr val="ECECF0"/>
                </a:solidFill>
                <a:latin typeface="Arial"/>
              </a:rPr>
              <a:t>filtro per zona e ricerca per titolo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6D74"/>
                </a:solidFill>
                <a:latin typeface="Arial"/>
              </a:rPr>
              <a:t>Rimandato.  </a:t>
            </a:r>
            <a:r>
              <a:rPr sz="1300" b="0">
                <a:solidFill>
                  <a:srgbClr val="ECECF0"/>
                </a:solidFill>
                <a:latin typeface="Arial"/>
              </a:rPr>
              <a:t>l'avviso sui dati vecchi (poco importante)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METODO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Come abbiamo lavorato: uno sprint per pezzo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084831" cy="1600200"/>
          </a:xfrm>
          <a:prstGeom prst="roundRect">
            <a:avLst/>
          </a:prstGeom>
          <a:solidFill>
            <a:srgbClr val="24242C"/>
          </a:solidFill>
          <a:ln w="1778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Sprint 1</a:t>
            </a:r>
          </a:p>
          <a:p>
            <a:pPr algn="ctr">
              <a:spcAft>
                <a:spcPts val="20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Scraper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F26D74"/>
                </a:solidFill>
                <a:latin typeface="Arial"/>
              </a:rPr>
              <a:t>fatto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874519"/>
            <a:ext cx="2084831" cy="1600200"/>
          </a:xfrm>
          <a:prstGeom prst="roundRect">
            <a:avLst/>
          </a:prstGeom>
          <a:solidFill>
            <a:srgbClr val="24242C"/>
          </a:solidFill>
          <a:ln w="1778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Sprint 2</a:t>
            </a:r>
          </a:p>
          <a:p>
            <a:pPr algn="ctr">
              <a:spcAft>
                <a:spcPts val="20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Backend e API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F26D74"/>
                </a:solidFill>
                <a:latin typeface="Arial"/>
              </a:rPr>
              <a:t>fatto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874519"/>
            <a:ext cx="2084831" cy="1600200"/>
          </a:xfrm>
          <a:prstGeom prst="roundRect">
            <a:avLst/>
          </a:prstGeom>
          <a:solidFill>
            <a:srgbClr val="24242C"/>
          </a:solidFill>
          <a:ln w="1778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Sprint 3</a:t>
            </a:r>
          </a:p>
          <a:p>
            <a:pPr algn="ctr">
              <a:spcAft>
                <a:spcPts val="20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App collegata ai dati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F26D74"/>
                </a:solidFill>
                <a:latin typeface="Arial"/>
              </a:rPr>
              <a:t>fatto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78624" y="1874519"/>
            <a:ext cx="2084831" cy="1600200"/>
          </a:xfrm>
          <a:prstGeom prst="roundRect">
            <a:avLst/>
          </a:prstGeom>
          <a:solidFill>
            <a:srgbClr val="24242C"/>
          </a:solidFill>
          <a:ln w="1778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Sprint 4</a:t>
            </a:r>
          </a:p>
          <a:p>
            <a:pPr algn="ctr">
              <a:spcAft>
                <a:spcPts val="20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Mappa e dettaglio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F26D74"/>
                </a:solidFill>
                <a:latin typeface="Arial"/>
              </a:rPr>
              <a:t>fatto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91472" y="1874519"/>
            <a:ext cx="2084831" cy="160020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Sprint 5</a:t>
            </a:r>
          </a:p>
          <a:p>
            <a:pPr algn="ctr">
              <a:spcAft>
                <a:spcPts val="20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Deploy e avviso dati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in parte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10881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i="0" u="none">
                <a:solidFill>
                  <a:srgbClr val="ECECF0"/>
                </a:solidFill>
                <a:latin typeface="Arial"/>
              </a:rPr>
              <a:t>L'ordine non è casuale: segue le dipendenze fra i pezzi.</a:t>
            </a:r>
          </a:p>
          <a:p>
            <a:pPr algn="l">
              <a:spcAft>
                <a:spcPts val="1100"/>
              </a:spcAft>
            </a:pPr>
            <a:r>
              <a:rPr sz="1500" b="0" i="0" u="none">
                <a:solidFill>
                  <a:srgbClr val="ECECF0"/>
                </a:solidFill>
                <a:latin typeface="Arial"/>
              </a:rPr>
              <a:t>Prima lo scraper, per capire subito se i siti erano davvero leggibili. Poi il backend, che dà all'app dati veri su cui lavorare. Infine l'app. Ogni sprint chiude qualcosa che si può mostrare.</a:t>
            </a:r>
          </a:p>
          <a:p>
            <a:pPr algn="l">
              <a:spcAft>
                <a:spcPts val="600"/>
              </a:spcAft>
            </a:pPr>
            <a:r>
              <a:rPr sz="1400" b="0" i="0" u="none">
                <a:solidFill>
                  <a:srgbClr val="9C9CA8"/>
                </a:solidFill>
                <a:latin typeface="Arial"/>
              </a:rPr>
              <a:t>Le versioni sono uscite un po' alla volta: prima le sole API, poi l'app completa (è la versione di oggi), e una versione futura con l'avviso sui dati vecchi e la pubblicazione online.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IL PRIMO PEZZO — LA RACCOLTA 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Scraper: dai siti dei cinema ai dati puliti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9C9CA8"/>
                </a:solidFill>
                <a:latin typeface="Arial"/>
              </a:rPr>
              <a:t>Ogni cinema ha il suo modulo di raccolta: stessa interfaccia, tecnica diversa a seconda di com'è fatto il sito.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538728" cy="13258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0624" rIns="146304" tIns="146304"/>
          <a:lstStyle/>
          <a:p>
            <a:pPr algn="l">
              <a:spcAft>
                <a:spcPts val="6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PostModernissimo</a:t>
            </a:r>
          </a:p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Sito in Next.js: leggiamo i dati della pagina e l'HTML</a:t>
            </a:r>
          </a:p>
        </p:txBody>
      </p:sp>
      <p:sp>
        <p:nvSpPr>
          <p:cNvPr id="9" name="Oval 8"/>
          <p:cNvSpPr/>
          <p:nvPr/>
        </p:nvSpPr>
        <p:spPr>
          <a:xfrm>
            <a:off x="822959" y="2212848"/>
            <a:ext cx="146304" cy="146304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2011680"/>
            <a:ext cx="3538728" cy="13258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0624" rIns="146304" tIns="146304"/>
          <a:lstStyle/>
          <a:p>
            <a:pPr algn="l">
              <a:spcAft>
                <a:spcPts val="6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The Space</a:t>
            </a:r>
          </a:p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Ha un'API con login; un browser automatico fa da riserva</a:t>
            </a:r>
          </a:p>
        </p:txBody>
      </p:sp>
      <p:sp>
        <p:nvSpPr>
          <p:cNvPr id="11" name="Oval 10"/>
          <p:cNvSpPr/>
          <p:nvPr/>
        </p:nvSpPr>
        <p:spPr>
          <a:xfrm>
            <a:off x="4507992" y="2212848"/>
            <a:ext cx="146304" cy="146304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2011680"/>
            <a:ext cx="3538728" cy="13258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0624" rIns="146304" tIns="146304"/>
          <a:lstStyle/>
          <a:p>
            <a:pPr algn="l">
              <a:spcAft>
                <a:spcPts val="6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UCI</a:t>
            </a:r>
          </a:p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API interna non documentata, ricostruita osservando la rete</a:t>
            </a:r>
          </a:p>
        </p:txBody>
      </p:sp>
      <p:sp>
        <p:nvSpPr>
          <p:cNvPr id="13" name="Oval 12"/>
          <p:cNvSpPr/>
          <p:nvPr/>
        </p:nvSpPr>
        <p:spPr>
          <a:xfrm>
            <a:off x="8193024" y="221284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9C9CA8"/>
                </a:solidFill>
                <a:latin typeface="Arial"/>
              </a:rPr>
              <a:t>Poi, sui film raccolti, la stessa catena di passaggi: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993392" cy="96012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Pulisce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i titoli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660903" y="4302252"/>
            <a:ext cx="256031" cy="219456"/>
          </a:xfrm>
          <a:prstGeom prst="right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62656" y="3931920"/>
            <a:ext cx="1993392" cy="96012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Toglie i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duplicati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83480" y="4302252"/>
            <a:ext cx="256031" cy="219456"/>
          </a:xfrm>
          <a:prstGeom prst="right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85232" y="3931920"/>
            <a:ext cx="1993392" cy="96012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Aggiunge dati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da Wikidata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06056" y="4302252"/>
            <a:ext cx="256031" cy="219456"/>
          </a:xfrm>
          <a:prstGeom prst="right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7808" y="3931920"/>
            <a:ext cx="1993392" cy="96012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Segna cosa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è cambiato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28632" y="4302252"/>
            <a:ext cx="256031" cy="219456"/>
          </a:xfrm>
          <a:prstGeom prst="right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30384" y="3931920"/>
            <a:ext cx="1993392" cy="960120"/>
          </a:xfrm>
          <a:prstGeom prst="roundRect">
            <a:avLst/>
          </a:prstGeom>
          <a:solidFill>
            <a:srgbClr val="24242C"/>
          </a:solidFill>
          <a:ln w="1778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Salva</a:t>
            </a:r>
          </a:p>
          <a:p>
            <a:pPr algn="ctr">
              <a:spcAft>
                <a:spcPts val="20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tre file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 u="none">
                <a:solidFill>
                  <a:srgbClr val="ECECF0"/>
                </a:solidFill>
                <a:latin typeface="Arial"/>
              </a:rPr>
              <a:t>Pulire i titoli serve a capire che "Dune – Parte 2" e "DUNE Parte 2" sono lo stesso film. Da Wikidata arrivano locandina, regista e trama. "Cosa è cambiato" tiene i dati vecchi finché non arrivano quelli nuovi.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9C9CA8"/>
                </a:solidFill>
                <a:latin typeface="Arial"/>
              </a:rPr>
              <a:t>In produzione gira da solo ogni notte alle 3.   </a:t>
            </a:r>
            <a:r>
              <a:rPr sz="1350" b="1">
                <a:solidFill>
                  <a:srgbClr val="ECECF0"/>
                </a:solidFill>
                <a:latin typeface="Arial"/>
              </a:rPr>
              <a:t>75 test automatici</a:t>
            </a:r>
            <a:r>
              <a:rPr sz="1350" b="0">
                <a:solidFill>
                  <a:srgbClr val="9C9CA8"/>
                </a:solidFill>
                <a:latin typeface="Arial"/>
              </a:rPr>
              <a:t> controllano che ogni modulo funzioni.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IL SECONDO PEZZO — IL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Backend: un'API che serve i dati all'app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 u="none">
                <a:solidFill>
                  <a:srgbClr val="9C9CA8"/>
                </a:solidFill>
                <a:latin typeface="Arial"/>
              </a:rPr>
              <a:t>Il backend è organizzato a livelli: ogni livello ha una responsabilità sola e chiama solo quello sotto.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286000" cy="713232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/>
          <a:lstStyle/>
          <a:p>
            <a:pPr algn="l">
              <a:spcAft>
                <a:spcPts val="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routers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04288"/>
            <a:ext cx="54864" cy="40233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139696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ricevono la richiesta dal web e controllano i dati in ingresso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00784" y="2880360"/>
            <a:ext cx="109728" cy="91440"/>
          </a:xfrm>
          <a:prstGeom prst="down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2286000" cy="713232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/>
          <a:lstStyle/>
          <a:p>
            <a:pPr algn="l">
              <a:spcAft>
                <a:spcPts val="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27248"/>
            <a:ext cx="54864" cy="40233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962656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la logica (per esempio "quali film ci sono oggi")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700784" y="3703320"/>
            <a:ext cx="109728" cy="91440"/>
          </a:xfrm>
          <a:prstGeom prst="down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2286000" cy="713232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/>
          <a:lstStyle/>
          <a:p>
            <a:pPr algn="l">
              <a:spcAft>
                <a:spcPts val="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repositories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50208"/>
            <a:ext cx="54864" cy="40233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3785616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le uniche classi che leggono e scrivono sul database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700784" y="4526280"/>
            <a:ext cx="109728" cy="91440"/>
          </a:xfrm>
          <a:prstGeom prst="downArrow">
            <a:avLst/>
          </a:prstGeom>
          <a:solidFill>
            <a:srgbClr val="66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617720"/>
            <a:ext cx="2286000" cy="713232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/>
          <a:lstStyle/>
          <a:p>
            <a:pPr algn="l">
              <a:spcAft>
                <a:spcPts val="0"/>
              </a:spcAft>
            </a:pPr>
            <a:r>
              <a:rPr sz="1500" b="1" i="0" u="none">
                <a:solidFill>
                  <a:srgbClr val="ECECF0"/>
                </a:solidFill>
                <a:latin typeface="Arial"/>
              </a:rPr>
              <a:t>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73168"/>
            <a:ext cx="54864" cy="40233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4608576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le tre tabelle del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965960"/>
            <a:ext cx="4846320" cy="324612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Gli 11 endpoint (visibili su /docs)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F26D74"/>
                </a:solidFill>
                <a:latin typeface="Arial"/>
              </a:rPr>
              <a:t>Film — </a:t>
            </a:r>
            <a:r>
              <a:rPr sz="1250" b="0">
                <a:solidFill>
                  <a:srgbClr val="ECECF0"/>
                </a:solidFill>
                <a:latin typeface="Arial"/>
              </a:rPr>
              <a:t>di oggi, della settimana, ricerca, dettaglio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F26D74"/>
                </a:solidFill>
                <a:latin typeface="Arial"/>
              </a:rPr>
              <a:t>Cinema — </a:t>
            </a:r>
            <a:r>
              <a:rPr sz="1250" b="0">
                <a:solidFill>
                  <a:srgbClr val="ECECF0"/>
                </a:solidFill>
                <a:latin typeface="Arial"/>
              </a:rPr>
              <a:t>lista, singolo, spettacoli del cinema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F26D74"/>
                </a:solidFill>
                <a:latin typeface="Arial"/>
              </a:rPr>
              <a:t>Spettacoli — </a:t>
            </a:r>
            <a:r>
              <a:rPr sz="1250" b="0">
                <a:solidFill>
                  <a:srgbClr val="ECECF0"/>
                </a:solidFill>
                <a:latin typeface="Arial"/>
              </a:rPr>
              <a:t>per una data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F26D74"/>
                </a:solidFill>
                <a:latin typeface="Arial"/>
              </a:rPr>
              <a:t>Amministrazione — </a:t>
            </a:r>
            <a:r>
              <a:rPr sz="1250" b="0">
                <a:solidFill>
                  <a:srgbClr val="ECECF0"/>
                </a:solidFill>
                <a:latin typeface="Arial"/>
              </a:rPr>
              <a:t>ricarica dati e conteggi (con token)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F26D74"/>
                </a:solidFill>
                <a:latin typeface="Arial"/>
              </a:rPr>
              <a:t>Stato — </a:t>
            </a:r>
            <a:r>
              <a:rPr sz="1250" b="0">
                <a:solidFill>
                  <a:srgbClr val="ECECF0"/>
                </a:solidFill>
                <a:latin typeface="Arial"/>
              </a:rPr>
              <a:t>health check</a:t>
            </a:r>
          </a:p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9C9CA8"/>
                </a:solidFill>
                <a:latin typeface="Arial"/>
              </a:rPr>
              <a:t>Sono in sola lettura per l'app; solo i due di amministrazione sono protetti.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16712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9C9CA8"/>
                </a:solidFill>
                <a:latin typeface="Arial"/>
              </a:rPr>
              <a:t>Tecnologie: </a:t>
            </a:r>
            <a:r>
              <a:rPr sz="1350" b="1">
                <a:solidFill>
                  <a:srgbClr val="ECECF0"/>
                </a:solidFill>
                <a:latin typeface="Arial"/>
              </a:rPr>
              <a:t>FastAPI, SQLAlchemy, SQLite, Pydantic.</a:t>
            </a:r>
            <a:r>
              <a:rPr sz="1350" b="0">
                <a:solidFill>
                  <a:srgbClr val="9C9CA8"/>
                </a:solidFill>
                <a:latin typeface="Arial"/>
              </a:rPr>
              <a:t>  I dati si caricano dai file dello scraper in modo ripetibile (ricaricarli non crea doppioni).  </a:t>
            </a:r>
            <a:r>
              <a:rPr sz="1350" b="1">
                <a:solidFill>
                  <a:srgbClr val="ECECF0"/>
                </a:solidFill>
                <a:latin typeface="Arial"/>
              </a:rPr>
              <a:t>26 test</a:t>
            </a:r>
            <a:r>
              <a:rPr sz="1350" b="0">
                <a:solidFill>
                  <a:srgbClr val="9C9CA8"/>
                </a:solidFill>
                <a:latin typeface="Arial"/>
              </a:rPr>
              <a:t> coprono database ed endpoint.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IL SECONDO PEZZO — I 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Il database: tre tabelle, due relazioni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017520" cy="402336"/>
          </a:xfrm>
          <a:prstGeom prst="roundRect">
            <a:avLst/>
          </a:prstGeom>
          <a:solidFill>
            <a:srgbClr val="2C2C36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cinemas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48256"/>
            <a:ext cx="3017520" cy="188915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54864"/>
          <a:lstStyle/>
          <a:p>
            <a:pPr algn="ctr">
              <a:spcAft>
                <a:spcPts val="300"/>
              </a:spcAft>
            </a:pPr>
            <a:r>
              <a:rPr sz="1100" b="1" u="sng">
                <a:solidFill>
                  <a:srgbClr val="ECECF0"/>
                </a:solidFill>
                <a:latin typeface="Arial"/>
              </a:rPr>
              <a:t>slug</a:t>
            </a:r>
            <a:r>
              <a:rPr sz="950">
                <a:solidFill>
                  <a:srgbClr val="666672"/>
                </a:solidFill>
                <a:latin typeface="Arial"/>
              </a:rPr>
              <a:t>   chiave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name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city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address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region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lat, lon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website, 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1645920"/>
            <a:ext cx="3017520" cy="402336"/>
          </a:xfrm>
          <a:prstGeom prst="roundRect">
            <a:avLst/>
          </a:prstGeom>
          <a:solidFill>
            <a:srgbClr val="2C2C36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showings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2048256"/>
            <a:ext cx="3017520" cy="188915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54864"/>
          <a:lstStyle/>
          <a:p>
            <a:pPr algn="ctr">
              <a:spcAft>
                <a:spcPts val="300"/>
              </a:spcAft>
            </a:pPr>
            <a:r>
              <a:rPr sz="1100" b="1" u="sng">
                <a:solidFill>
                  <a:srgbClr val="ECECF0"/>
                </a:solidFill>
                <a:latin typeface="Arial"/>
              </a:rPr>
              <a:t>id</a:t>
            </a:r>
            <a:r>
              <a:rPr sz="950">
                <a:solidFill>
                  <a:srgbClr val="666672"/>
                </a:solidFill>
                <a:latin typeface="Arial"/>
              </a:rPr>
              <a:t>   chiave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AA9FF"/>
                </a:solidFill>
                <a:latin typeface="Arial"/>
              </a:rPr>
              <a:t>film_id → films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AA9FF"/>
                </a:solidFill>
                <a:latin typeface="Arial"/>
              </a:rPr>
              <a:t>cinema_slug → cinemas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date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times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language, screen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buy_url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49056" y="1645920"/>
            <a:ext cx="3017520" cy="402336"/>
          </a:xfrm>
          <a:prstGeom prst="roundRect">
            <a:avLst/>
          </a:prstGeom>
          <a:solidFill>
            <a:srgbClr val="2C2C36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films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9056" y="2048256"/>
            <a:ext cx="3017520" cy="188915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54864"/>
          <a:lstStyle/>
          <a:p>
            <a:pPr algn="ctr">
              <a:spcAft>
                <a:spcPts val="300"/>
              </a:spcAft>
            </a:pPr>
            <a:r>
              <a:rPr sz="1100" b="1" u="sng">
                <a:solidFill>
                  <a:srgbClr val="ECECF0"/>
                </a:solidFill>
                <a:latin typeface="Arial"/>
              </a:rPr>
              <a:t>id</a:t>
            </a:r>
            <a:r>
              <a:rPr sz="950">
                <a:solidFill>
                  <a:srgbClr val="666672"/>
                </a:solidFill>
                <a:latin typeface="Arial"/>
              </a:rPr>
              <a:t>   chiave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title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title_normalized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year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runtime_minutes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director, genres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9C9CA8"/>
                </a:solidFill>
                <a:latin typeface="Arial"/>
              </a:rPr>
              <a:t>poster_url, synopsis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9039" y="2743200"/>
            <a:ext cx="841249" cy="0"/>
          </a:xfrm>
          <a:prstGeom prst="line">
            <a:avLst/>
          </a:prstGeom>
          <a:ln w="28575">
            <a:solidFill>
              <a:srgbClr val="9C9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07808" y="2743200"/>
            <a:ext cx="841248" cy="0"/>
          </a:xfrm>
          <a:prstGeom prst="line">
            <a:avLst/>
          </a:prstGeom>
          <a:ln w="28575">
            <a:solidFill>
              <a:srgbClr val="9C9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94759" y="246888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46888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8" y="246888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ECECF0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788920"/>
            <a:ext cx="8412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 u="none">
                <a:solidFill>
                  <a:srgbClr val="666672"/>
                </a:solidFill>
                <a:latin typeface="Arial"/>
              </a:rPr>
              <a:t>programma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788920"/>
            <a:ext cx="8412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 u="none">
                <a:solidFill>
                  <a:srgbClr val="666672"/>
                </a:solidFill>
                <a:latin typeface="Arial"/>
              </a:rPr>
              <a:t>riguarda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109087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 u="none">
                <a:solidFill>
                  <a:srgbClr val="ECECF0"/>
                </a:solidFill>
                <a:latin typeface="Arial"/>
              </a:rPr>
              <a:t>Ogni spettacolo (showings) lega un film a un cinema in una certa data, con i suoi orari. Un cinema ha molti spettacoli, un film ha molti spettacoli: showings sta in mezzo alle due tabelle.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9C9CA8"/>
                </a:solidFill>
                <a:latin typeface="Arial"/>
              </a:rPr>
              <a:t>Due accorgimenti importanti:  </a:t>
            </a:r>
            <a:r>
              <a:rPr sz="1350" b="1">
                <a:solidFill>
                  <a:srgbClr val="ECECF0"/>
                </a:solidFill>
                <a:latin typeface="Arial"/>
              </a:rPr>
              <a:t>la coppia film–cinema–data è unica</a:t>
            </a:r>
            <a:r>
              <a:rPr sz="1350" b="0">
                <a:solidFill>
                  <a:srgbClr val="9C9CA8"/>
                </a:solidFill>
                <a:latin typeface="Arial"/>
              </a:rPr>
              <a:t>, così ricaricare i dati non crea doppioni;  </a:t>
            </a:r>
            <a:r>
              <a:rPr sz="1350" b="1">
                <a:solidFill>
                  <a:srgbClr val="ECECF0"/>
                </a:solidFill>
                <a:latin typeface="Arial"/>
              </a:rPr>
              <a:t>cancellando un film o un cinema spariscono anche i suoi spettacoli</a:t>
            </a:r>
            <a:r>
              <a:rPr sz="1350" b="0">
                <a:solidFill>
                  <a:srgbClr val="9C9CA8"/>
                </a:solidFill>
                <a:latin typeface="Arial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IL TERZO PEZZO — L'APPLICAZIONE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L'app: un solo codice per web e telefono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120640" cy="3977639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Con cosa è costruita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ECECF0"/>
                </a:solidFill>
                <a:latin typeface="Arial"/>
              </a:rPr>
              <a:t>React Native — </a:t>
            </a:r>
            <a:r>
              <a:rPr sz="1350" b="0">
                <a:solidFill>
                  <a:srgbClr val="9C9CA8"/>
                </a:solidFill>
                <a:latin typeface="Arial"/>
              </a:rPr>
              <a:t>il framework dell'app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ECECF0"/>
                </a:solidFill>
                <a:latin typeface="Arial"/>
              </a:rPr>
              <a:t>Expo — </a:t>
            </a:r>
            <a:r>
              <a:rPr sz="1350" b="0">
                <a:solidFill>
                  <a:srgbClr val="9C9CA8"/>
                </a:solidFill>
                <a:latin typeface="Arial"/>
              </a:rPr>
              <a:t>strumenti e anteprima sul telefono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ECECF0"/>
                </a:solidFill>
                <a:latin typeface="Arial"/>
              </a:rPr>
              <a:t>React Navigation — </a:t>
            </a:r>
            <a:r>
              <a:rPr sz="1350" b="0">
                <a:solidFill>
                  <a:srgbClr val="9C9CA8"/>
                </a:solidFill>
                <a:latin typeface="Arial"/>
              </a:rPr>
              <a:t>le schede in basso e le pagine di dettaglio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ECECF0"/>
                </a:solidFill>
                <a:latin typeface="Arial"/>
              </a:rPr>
              <a:t>react-native-web — </a:t>
            </a:r>
            <a:r>
              <a:rPr sz="1350" b="0">
                <a:solidFill>
                  <a:srgbClr val="9C9CA8"/>
                </a:solidFill>
                <a:latin typeface="Arial"/>
              </a:rPr>
              <a:t>lo stesso codice gira anche nel browser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ECECF0"/>
                </a:solidFill>
                <a:latin typeface="Arial"/>
              </a:rPr>
              <a:t>Leaflet — </a:t>
            </a:r>
            <a:r>
              <a:rPr sz="1350" b="0">
                <a:solidFill>
                  <a:srgbClr val="9C9CA8"/>
                </a:solidFill>
                <a:latin typeface="Arial"/>
              </a:rPr>
              <a:t>la mappa dei cinema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ECECF0"/>
                </a:solidFill>
                <a:latin typeface="Arial"/>
              </a:rPr>
              <a:t>AsyncStorage — </a:t>
            </a:r>
            <a:r>
              <a:rPr sz="1350" b="0">
                <a:solidFill>
                  <a:srgbClr val="9C9CA8"/>
                </a:solidFill>
                <a:latin typeface="Arial"/>
              </a:rPr>
              <a:t>i preferiti, salvati sul telefono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1783080"/>
            <a:ext cx="5577840" cy="3977639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Come ci si muove nell'app</a:t>
            </a:r>
          </a:p>
          <a:p>
            <a:pPr algn="l">
              <a:spcAft>
                <a:spcPts val="1200"/>
              </a:spcAft>
            </a:pPr>
            <a:r>
              <a:rPr sz="1300" b="0" i="0" u="none">
                <a:solidFill>
                  <a:srgbClr val="9C9CA8"/>
                </a:solidFill>
                <a:latin typeface="Arial"/>
              </a:rPr>
              <a:t>All'avvio parte una breve animazione, poi si arriva alle tre schede in basso: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6D74"/>
                </a:solidFill>
                <a:latin typeface="Arial"/>
              </a:rPr>
              <a:t>Films  —  </a:t>
            </a:r>
            <a:r>
              <a:rPr sz="1400" b="0">
                <a:solidFill>
                  <a:srgbClr val="ECECF0"/>
                </a:solidFill>
                <a:latin typeface="Arial"/>
              </a:rPr>
              <a:t>la home con il cartellone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6D74"/>
                </a:solidFill>
                <a:latin typeface="Arial"/>
              </a:rPr>
              <a:t>Cerca  —  </a:t>
            </a:r>
            <a:r>
              <a:rPr sz="1400" b="0">
                <a:solidFill>
                  <a:srgbClr val="ECECF0"/>
                </a:solidFill>
                <a:latin typeface="Arial"/>
              </a:rPr>
              <a:t>la ricerca per titolo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26D74"/>
                </a:solidFill>
                <a:latin typeface="Arial"/>
              </a:rPr>
              <a:t>Località  —  </a:t>
            </a:r>
            <a:r>
              <a:rPr sz="1400" b="0">
                <a:solidFill>
                  <a:srgbClr val="ECECF0"/>
                </a:solidFill>
                <a:latin typeface="Arial"/>
              </a:rPr>
              <a:t>la mappa dei cinema</a:t>
            </a:r>
          </a:p>
          <a:p>
            <a:pPr algn="l">
              <a:spcAft>
                <a:spcPts val="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Da Films e da Cerca si apre il dettaglio del film restando dentro la stessa scheda, con la barra sempre visibile in basso.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IL TERZO PEZZO — L'APPLICAZIONE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Le schermate e qualche scelta tecnica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880360" cy="822960"/>
          </a:xfrm>
          <a:prstGeom prst="roundRect">
            <a:avLst/>
          </a:prstGeom>
          <a:solidFill>
            <a:srgbClr val="1E1E25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50" b="1" i="0" u="none">
                <a:solidFill>
                  <a:srgbClr val="ECECF0"/>
                </a:solidFill>
                <a:latin typeface="Arial"/>
              </a:rPr>
              <a:t>Films (home)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73352"/>
            <a:ext cx="781812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9C9CA8"/>
                </a:solidFill>
                <a:latin typeface="Arial"/>
              </a:rPr>
              <a:t>carosello in alto, barra dei sette giorni e griglia delle locandine; si può filtrare per cinema e aggiornare tirando giù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2880360" cy="822960"/>
          </a:xfrm>
          <a:prstGeom prst="roundRect">
            <a:avLst/>
          </a:prstGeom>
          <a:solidFill>
            <a:srgbClr val="1E1E25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50" b="1" i="0" u="none">
                <a:solidFill>
                  <a:srgbClr val="ECECF0"/>
                </a:solidFill>
                <a:latin typeface="Arial"/>
              </a:rPr>
              <a:t>Cerca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87752"/>
            <a:ext cx="781812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9C9CA8"/>
                </a:solidFill>
                <a:latin typeface="Arial"/>
              </a:rPr>
              <a:t>cerca per titolo mentre scrivi; aspetta un attimo prima di interrogare il backend e ignora le risposte più vecchie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2880360" cy="822960"/>
          </a:xfrm>
          <a:prstGeom prst="roundRect">
            <a:avLst/>
          </a:prstGeom>
          <a:solidFill>
            <a:srgbClr val="1E1E25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50" b="1" i="0" u="none">
                <a:solidFill>
                  <a:srgbClr val="ECECF0"/>
                </a:solidFill>
                <a:latin typeface="Arial"/>
              </a:rPr>
              <a:t>Località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02152"/>
            <a:ext cx="781812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9C9CA8"/>
                </a:solidFill>
                <a:latin typeface="Arial"/>
              </a:rPr>
              <a:t>mappa con i tre cinema e i loro indirizzi; toccandone uno si apre in Google Maps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2880360" cy="822960"/>
          </a:xfrm>
          <a:prstGeom prst="roundRect">
            <a:avLst/>
          </a:prstGeom>
          <a:solidFill>
            <a:srgbClr val="1E1E25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50" b="1" i="0" u="none">
                <a:solidFill>
                  <a:srgbClr val="ECECF0"/>
                </a:solidFill>
                <a:latin typeface="Arial"/>
              </a:rPr>
              <a:t>Dettaglio film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416552"/>
            <a:ext cx="781812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9C9CA8"/>
                </a:solidFill>
                <a:latin typeface="Arial"/>
              </a:rPr>
              <a:t>locandina, trama, trailer e gli orari raggruppati per cinema, aperti già sulla data giusta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68112"/>
            <a:ext cx="10908792" cy="749808"/>
          </a:xfrm>
          <a:prstGeom prst="roundRect">
            <a:avLst/>
          </a:prstGeom>
          <a:solidFill>
            <a:srgbClr val="1E1E25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6D74"/>
                </a:solidFill>
                <a:latin typeface="Arial"/>
              </a:rPr>
              <a:t>Un dettaglio di cura: </a:t>
            </a:r>
            <a:r>
              <a:rPr sz="1300" b="0">
                <a:solidFill>
                  <a:srgbClr val="ECECF0"/>
                </a:solidFill>
                <a:latin typeface="Arial"/>
              </a:rPr>
              <a:t>le locandine dei cinema sono a bassa risoluzione, così le mostriamo piccole e nitide su uno sfondo sfocato, invece che grandi e sgranate.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INGEGNERIA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Gli schemi di progettazione usati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90879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3657600"/>
                <a:gridCol w="4782312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CECF0"/>
                          </a:solidFill>
                          <a:latin typeface="Arial"/>
                        </a:rPr>
                        <a:t>Schema (pattern)</a:t>
                      </a:r>
                    </a:p>
                  </a:txBody>
                  <a:tcPr marL="109728" marR="109728" marT="32004" marB="32004" anchor="ctr">
                    <a:solidFill>
                      <a:srgbClr val="2C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CECF0"/>
                          </a:solidFill>
                          <a:latin typeface="Arial"/>
                        </a:rPr>
                        <a:t>Dove</a:t>
                      </a:r>
                    </a:p>
                  </a:txBody>
                  <a:tcPr marL="109728" marR="109728" marT="32004" marB="32004" anchor="ctr">
                    <a:solidFill>
                      <a:srgbClr val="2C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CECF0"/>
                          </a:solidFill>
                          <a:latin typeface="Arial"/>
                        </a:rPr>
                        <a:t>A cosa serve</a:t>
                      </a:r>
                    </a:p>
                  </a:txBody>
                  <a:tcPr marL="109728" marR="109728" marT="32004" marB="32004" anchor="ctr">
                    <a:solidFill>
                      <a:srgbClr val="2C2C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i moduli dello scraper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stessa interfaccia, una tecnica diversa per ogni cinema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Repository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backend, accesso ai dati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tiene le query in un posto solo, staccate dal resto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backend, logica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separa le regole di business dal web e dal database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DTO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gli oggetti Pydantic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definiscono la forma esatta dei dati verso l'app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Dependency Injection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il database in FastAPI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nei test si sostituisce con un database in memoria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Factory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creazione dell'app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un unico punto che costruisce e configura tutto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2304288"/>
            <a:ext cx="10908792" cy="274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QUALITÀ E COLLAUDO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Come teniamo il progetto in salute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920240" cy="1463040"/>
          </a:xfrm>
          <a:prstGeom prst="roundRect">
            <a:avLst/>
          </a:prstGeom>
          <a:solidFill>
            <a:srgbClr val="24242C"/>
          </a:solidFill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3800" b="1" i="0" u="none">
                <a:solidFill>
                  <a:srgbClr val="F26D74"/>
                </a:solidFill>
                <a:latin typeface="Arial"/>
              </a:rPr>
              <a:t>101</a:t>
            </a:r>
          </a:p>
          <a:p>
            <a:pPr algn="ctr">
              <a:spcAft>
                <a:spcPts val="20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test automatici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783080"/>
            <a:ext cx="1920240" cy="146304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3800" b="1" i="0" u="none">
                <a:solidFill>
                  <a:srgbClr val="ECECF0"/>
                </a:solidFill>
                <a:latin typeface="Arial"/>
              </a:rPr>
              <a:t>75</a:t>
            </a:r>
          </a:p>
          <a:p>
            <a:pPr algn="ctr">
              <a:spcAft>
                <a:spcPts val="20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sullo scraper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1920240" cy="146304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3800" b="1" i="0" u="none">
                <a:solidFill>
                  <a:srgbClr val="ECECF0"/>
                </a:solidFill>
                <a:latin typeface="Arial"/>
              </a:rPr>
              <a:t>26</a:t>
            </a:r>
          </a:p>
          <a:p>
            <a:pPr algn="ctr">
              <a:spcAft>
                <a:spcPts val="20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sul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783080"/>
            <a:ext cx="4297680" cy="146304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Controllo automatico</a:t>
            </a:r>
          </a:p>
          <a:p>
            <a:pPr algn="l">
              <a:spcAft>
                <a:spcPts val="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A ogni modifica caricata, i test girano da soli su GitHub. Se qualcosa si rompe, ce ne accorgiamo subito.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08792" cy="214884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Un problema vero, trovato e risolto</a:t>
            </a:r>
          </a:p>
          <a:p>
            <a:pPr algn="l">
              <a:spcAft>
                <a:spcPts val="900"/>
              </a:spcAft>
            </a:pPr>
            <a:r>
              <a:rPr sz="1500" b="0" i="0" u="none">
                <a:solidFill>
                  <a:srgbClr val="ECECF0"/>
                </a:solidFill>
                <a:latin typeface="Arial"/>
              </a:rPr>
              <a:t>The Space propone lo stesso film in più sale. La regola che tiene unici i dati ne conservava una sola: "Odissea" mostrava un orario invece di dodici.</a:t>
            </a:r>
          </a:p>
          <a:p>
            <a:pPr algn="l">
              <a:spcAft>
                <a:spcPts val="600"/>
              </a:spcAft>
            </a:pPr>
            <a:r>
              <a:rPr sz="1500" b="0" i="0" u="none">
                <a:solidFill>
                  <a:srgbClr val="9C9CA8"/>
                </a:solidFill>
                <a:latin typeface="Arial"/>
              </a:rPr>
              <a:t>Ora, prima di salvare, uniamo gli orari di tutte le sale. Trovato il motivo, sistemato, e aggiunto un test perché non ricapiti. Da uno a dodici orari.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130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ANALISI DEI RISCHI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I rischi principali e come li gestiamo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69037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118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CECF0"/>
                          </a:solidFill>
                          <a:latin typeface="Arial"/>
                        </a:rPr>
                        <a:t>Rischio</a:t>
                      </a:r>
                    </a:p>
                  </a:txBody>
                  <a:tcPr marL="109728" marR="109728" marT="32004" marB="32004" anchor="ctr">
                    <a:solidFill>
                      <a:srgbClr val="2C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CECF0"/>
                          </a:solidFill>
                          <a:latin typeface="Arial"/>
                        </a:rPr>
                        <a:t>Gravità</a:t>
                      </a:r>
                    </a:p>
                  </a:txBody>
                  <a:tcPr marL="109728" marR="109728" marT="32004" marB="32004" anchor="ctr">
                    <a:solidFill>
                      <a:srgbClr val="2C2C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Un sito cambia e lo scraper si rompe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Un sito è troppo dinamico da leggere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Le regole del sito vietano la raccolta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Si aggiungono funzioni non previste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109728" marR="109728" marT="32004" marB="32004" anchor="ctr">
                    <a:solidFill>
                      <a:srgbClr val="2424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Wikidata non ha un film di nicchia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0"/>
                          </a:solidFill>
                          <a:latin typeface="Arial"/>
                        </a:rPr>
                        <a:t>Bassa</a:t>
                      </a:r>
                    </a:p>
                  </a:txBody>
                  <a:tcPr marL="109728" marR="109728" marT="32004" marB="32004" anchor="ctr">
                    <a:solidFill>
                      <a:srgbClr val="1E1E2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2029968"/>
            <a:ext cx="6903720" cy="274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600200"/>
            <a:ext cx="3749039" cy="274320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Come teniamo a bada il primo</a:t>
            </a:r>
          </a:p>
          <a:p>
            <a:pPr algn="l">
              <a:spcAft>
                <a:spcPts val="900"/>
              </a:spcAft>
            </a:pPr>
            <a:r>
              <a:rPr sz="1250">
                <a:solidFill>
                  <a:srgbClr val="E50914"/>
                </a:solidFill>
                <a:latin typeface="Arial"/>
              </a:rPr>
              <a:t>—  </a:t>
            </a:r>
            <a:r>
              <a:rPr sz="1250" b="0">
                <a:solidFill>
                  <a:srgbClr val="ECECF0"/>
                </a:solidFill>
                <a:latin typeface="Arial"/>
              </a:rPr>
              <a:t>un modulo per ogni cinema: si rompe solo quello</a:t>
            </a:r>
          </a:p>
          <a:p>
            <a:pPr algn="l">
              <a:spcAft>
                <a:spcPts val="900"/>
              </a:spcAft>
            </a:pPr>
            <a:r>
              <a:rPr sz="1250">
                <a:solidFill>
                  <a:srgbClr val="E50914"/>
                </a:solidFill>
                <a:latin typeface="Arial"/>
              </a:rPr>
              <a:t>—  </a:t>
            </a:r>
            <a:r>
              <a:rPr sz="1250" b="0">
                <a:solidFill>
                  <a:srgbClr val="ECECF0"/>
                </a:solidFill>
                <a:latin typeface="Arial"/>
              </a:rPr>
              <a:t>gli errori restano isolati, gli altri vanno avanti</a:t>
            </a:r>
          </a:p>
          <a:p>
            <a:pPr algn="l">
              <a:spcAft>
                <a:spcPts val="900"/>
              </a:spcAft>
            </a:pPr>
            <a:r>
              <a:rPr sz="1250">
                <a:solidFill>
                  <a:srgbClr val="E50914"/>
                </a:solidFill>
                <a:latin typeface="Arial"/>
              </a:rPr>
              <a:t>—  </a:t>
            </a:r>
            <a:r>
              <a:rPr sz="1250" b="0">
                <a:solidFill>
                  <a:srgbClr val="ECECF0"/>
                </a:solidFill>
                <a:latin typeface="Arial"/>
              </a:rPr>
              <a:t>teniamo i dati vecchi finché non arrivano i nuovi</a:t>
            </a:r>
          </a:p>
          <a:p>
            <a:pPr algn="l">
              <a:spcAft>
                <a:spcPts val="900"/>
              </a:spcAft>
            </a:pPr>
            <a:r>
              <a:rPr sz="1250">
                <a:solidFill>
                  <a:srgbClr val="E50914"/>
                </a:solidFill>
                <a:latin typeface="Arial"/>
              </a:rPr>
              <a:t>—  </a:t>
            </a:r>
            <a:r>
              <a:rPr sz="1250" b="0">
                <a:solidFill>
                  <a:srgbClr val="ECECF0"/>
                </a:solidFill>
                <a:latin typeface="Arial"/>
              </a:rPr>
              <a:t>i test segnalano subito se qualcosa cambia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80136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10908792" cy="141732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Raccolta dati corretta e trasparente</a:t>
            </a:r>
            <a:r>
              <a:rPr sz="1350" b="0">
                <a:solidFill>
                  <a:srgbClr val="ECECF0"/>
                </a:solidFill>
                <a:latin typeface="Arial"/>
              </a:rPr>
              <a:t>Rispettiamo le regole dei siti, una richiesta al secondo, di notte, con un contatto reale nell'intestazione. E rimandiamo sempre al sito del cinema per l'acquisto: </a:t>
            </a:r>
            <a:r>
              <a:rPr sz="1350" b="1">
                <a:solidFill>
                  <a:srgbClr val="F26D74"/>
                </a:solidFill>
                <a:latin typeface="Arial"/>
              </a:rPr>
              <a:t>portiamo traffico, non lo sottraiamo.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8172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INGEGNERIA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Tre scelte che difendiamo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1298448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/>
          <a:lstStyle/>
          <a:p>
            <a:pPr algn="l">
              <a:spcAft>
                <a:spcPts val="500"/>
              </a:spcAft>
            </a:pPr>
            <a:r>
              <a:rPr sz="1550" b="1" i="0" u="none">
                <a:solidFill>
                  <a:srgbClr val="ECECF0"/>
                </a:solidFill>
                <a:latin typeface="Arial"/>
              </a:rPr>
              <a:t>Usare SQLite anche in produzione, non un database più grande</a:t>
            </a:r>
          </a:p>
          <a:p>
            <a:pPr algn="l">
              <a:spcAft>
                <a:spcPts val="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Tre cinema e poche centinaia di spettacoli, in sola lettura: un database server aggiungerebbe lavoro senza vantaggi. E se un domani servisse, cambia solo una riga di configurazione, non il codice.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02536"/>
            <a:ext cx="54864" cy="82296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10908792" cy="1298448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/>
          <a:lstStyle/>
          <a:p>
            <a:pPr algn="l">
              <a:spcAft>
                <a:spcPts val="500"/>
              </a:spcAft>
            </a:pPr>
            <a:r>
              <a:rPr sz="1550" b="1" i="0" u="none">
                <a:solidFill>
                  <a:srgbClr val="ECECF0"/>
                </a:solidFill>
                <a:latin typeface="Arial"/>
              </a:rPr>
              <a:t>Prendere i dati dei film da Wikidata, non da servizi a pagamento</a:t>
            </a:r>
          </a:p>
          <a:p>
            <a:pPr algn="l">
              <a:spcAft>
                <a:spcPts val="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Nessuna chiave da gestire, nessun limite commerciale, licenza aperta; teniamo una copia locale per non ripetere le richieste.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9856"/>
            <a:ext cx="54864" cy="82296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0908792" cy="1298448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/>
          <a:lstStyle/>
          <a:p>
            <a:pPr algn="l">
              <a:spcAft>
                <a:spcPts val="500"/>
              </a:spcAft>
            </a:pPr>
            <a:r>
              <a:rPr sz="1550" b="1" i="0" u="none">
                <a:solidFill>
                  <a:srgbClr val="ECECF0"/>
                </a:solidFill>
                <a:latin typeface="Arial"/>
              </a:rPr>
              <a:t>Un modulo di raccolta separato per ogni cinema</a:t>
            </a:r>
          </a:p>
          <a:p>
            <a:pPr algn="l">
              <a:spcAft>
                <a:spcPts val="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Se un sito si rompe non trascina gli altri, e possiamo adattarci a fonti diverse, anche a quelle non documentate come UCI.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37176"/>
            <a:ext cx="54864" cy="82296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6373368"/>
            <a:ext cx="10908792" cy="9144"/>
          </a:xfrm>
          <a:prstGeom prst="rect">
            <a:avLst/>
          </a:prstGeom>
          <a:solidFill>
            <a:srgbClr val="37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CinePosto  ·  Team RepCode  ·  14 luglio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3737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u="none">
                <a:solidFill>
                  <a:srgbClr val="6666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4200" b="1" i="0" u="none">
                <a:solidFill>
                  <a:srgbClr val="ECECF0"/>
                </a:solidFill>
                <a:latin typeface="Arial"/>
              </a:rPr>
              <a:t>Vediamola dal vivo</a:t>
            </a:r>
          </a:p>
          <a:p>
            <a:pPr algn="ctr">
              <a:spcAft>
                <a:spcPts val="600"/>
              </a:spcAft>
            </a:pPr>
            <a:r>
              <a:rPr sz="1800" b="0" i="0" u="none">
                <a:solidFill>
                  <a:srgbClr val="9C9CA8"/>
                </a:solidFill>
                <a:latin typeface="Arial"/>
              </a:rPr>
              <a:t>L'app, gli orari veri raccolti stamattina, tutta la catena dall'inizio alla fine.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097280" cy="327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0233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666672"/>
                </a:solidFill>
                <a:latin typeface="Arial"/>
              </a:rPr>
              <a:t>CHIUSURA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ECECF0"/>
                </a:solidFill>
                <a:latin typeface="Arial"/>
              </a:rPr>
              <a:t>In due parole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16736"/>
            <a:ext cx="822960" cy="411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22402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Quello che c'è oggi</a:t>
            </a:r>
          </a:p>
          <a:p>
            <a:pPr algn="l">
              <a:spcAft>
                <a:spcPts val="900"/>
              </a:spcAft>
            </a:pPr>
            <a:r>
              <a:rPr sz="1350">
                <a:solidFill>
                  <a:srgbClr val="E50914"/>
                </a:solidFill>
                <a:latin typeface="Arial"/>
              </a:rPr>
              <a:t>—  </a:t>
            </a:r>
            <a:r>
              <a:rPr sz="1350" b="0">
                <a:solidFill>
                  <a:srgbClr val="ECECF0"/>
                </a:solidFill>
                <a:latin typeface="Arial"/>
              </a:rPr>
              <a:t>la catena completa, dai siti fino all'app, su dati veri</a:t>
            </a:r>
          </a:p>
          <a:p>
            <a:pPr algn="l">
              <a:spcAft>
                <a:spcPts val="900"/>
              </a:spcAft>
            </a:pPr>
            <a:r>
              <a:rPr sz="1350">
                <a:solidFill>
                  <a:srgbClr val="E50914"/>
                </a:solidFill>
                <a:latin typeface="Arial"/>
              </a:rPr>
              <a:t>—  </a:t>
            </a:r>
            <a:r>
              <a:rPr sz="1350" b="0">
                <a:solidFill>
                  <a:srgbClr val="ECECF0"/>
                </a:solidFill>
                <a:latin typeface="Arial"/>
              </a:rPr>
              <a:t>un'unica app che gira su web e su telefono</a:t>
            </a:r>
          </a:p>
          <a:p>
            <a:pPr algn="l">
              <a:spcAft>
                <a:spcPts val="900"/>
              </a:spcAft>
            </a:pPr>
            <a:r>
              <a:rPr sz="1350">
                <a:solidFill>
                  <a:srgbClr val="E50914"/>
                </a:solidFill>
                <a:latin typeface="Arial"/>
              </a:rPr>
              <a:t>—  </a:t>
            </a:r>
            <a:r>
              <a:rPr sz="1350" b="0">
                <a:solidFill>
                  <a:srgbClr val="ECECF0"/>
                </a:solidFill>
                <a:latin typeface="Arial"/>
              </a:rPr>
              <a:t>101 test automatici e controllo a ogni modifica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2240280"/>
          </a:xfrm>
          <a:prstGeom prst="roundRect">
            <a:avLst/>
          </a:prstGeom>
          <a:solidFill>
            <a:srgbClr val="24242C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Quello che verrà dopo</a:t>
            </a:r>
          </a:p>
          <a:p>
            <a:pPr algn="l">
              <a:spcAft>
                <a:spcPts val="900"/>
              </a:spcAft>
            </a:pPr>
            <a:r>
              <a:rPr sz="1350">
                <a:solidFill>
                  <a:srgbClr val="E50914"/>
                </a:solidFill>
                <a:latin typeface="Arial"/>
              </a:rPr>
              <a:t>—  </a:t>
            </a:r>
            <a:r>
              <a:rPr sz="1350" b="0">
                <a:solidFill>
                  <a:srgbClr val="ECECF0"/>
                </a:solidFill>
                <a:latin typeface="Arial"/>
              </a:rPr>
              <a:t>l'avviso quando i dati di un cinema sono vecchi</a:t>
            </a:r>
          </a:p>
          <a:p>
            <a:pPr algn="l">
              <a:spcAft>
                <a:spcPts val="900"/>
              </a:spcAft>
            </a:pPr>
            <a:r>
              <a:rPr sz="1350">
                <a:solidFill>
                  <a:srgbClr val="E50914"/>
                </a:solidFill>
                <a:latin typeface="Arial"/>
              </a:rPr>
              <a:t>—  </a:t>
            </a:r>
            <a:r>
              <a:rPr sz="1350" b="0">
                <a:solidFill>
                  <a:srgbClr val="ECECF0"/>
                </a:solidFill>
                <a:latin typeface="Arial"/>
              </a:rPr>
              <a:t>la pubblicazione online di backend e app</a:t>
            </a:r>
          </a:p>
          <a:p>
            <a:pPr algn="l">
              <a:spcAft>
                <a:spcPts val="900"/>
              </a:spcAft>
            </a:pPr>
            <a:r>
              <a:rPr sz="1350">
                <a:solidFill>
                  <a:srgbClr val="E50914"/>
                </a:solidFill>
                <a:latin typeface="Arial"/>
              </a:rPr>
              <a:t>—  </a:t>
            </a:r>
            <a:r>
              <a:rPr sz="1350" b="0">
                <a:solidFill>
                  <a:srgbClr val="ECECF0"/>
                </a:solidFill>
                <a:latin typeface="Arial"/>
              </a:rPr>
              <a:t>la ricerca per titolo, che però è già pronta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984248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10908792" cy="1188720"/>
          </a:xfrm>
          <a:prstGeom prst="roundRect">
            <a:avLst/>
          </a:prstGeom>
          <a:solidFill>
            <a:srgbClr val="1E1E25"/>
          </a:solidFill>
          <a:ln w="12700">
            <a:solidFill>
              <a:srgbClr val="37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182880"/>
          <a:lstStyle/>
          <a:p>
            <a:pPr algn="l">
              <a:spcAft>
                <a:spcPts val="900"/>
              </a:spcAft>
            </a:pPr>
            <a:r>
              <a:rPr sz="1400" b="1" i="0" u="none">
                <a:solidFill>
                  <a:srgbClr val="ECECF0"/>
                </a:solidFill>
                <a:latin typeface="Arial"/>
              </a:rPr>
              <a:t>Cosa diciamo con onestà</a:t>
            </a:r>
          </a:p>
          <a:p>
            <a:pPr algn="l">
              <a:spcAft>
                <a:spcPts val="0"/>
              </a:spcAft>
            </a:pPr>
            <a:r>
              <a:rPr sz="1250" b="0" i="0" u="none">
                <a:solidFill>
                  <a:srgbClr val="9C9CA8"/>
                </a:solidFill>
                <a:latin typeface="Arial"/>
              </a:rPr>
              <a:t>Quando l'anno di un film manca, i doppioni li togliamo via codice e non col database. L'API di UCI non è ufficiale e può cambiare. SQLite scrive un po' alla volta: per noi va bene, perché scrive solo di notte.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07407"/>
            <a:ext cx="54864" cy="2560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ECECF0"/>
                </a:solidFill>
                <a:latin typeface="Arial"/>
              </a:rPr>
              <a:t>Grazie.  —  Team RepCode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